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8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5" r:id="rId17"/>
  </p:sldIdLst>
  <p:sldSz cx="9144000" cy="5143500" type="screen16x9"/>
  <p:notesSz cx="6858000" cy="9144000"/>
  <p:embeddedFontLst>
    <p:embeddedFont>
      <p:font typeface="Oswald" panose="00000500000000000000" pitchFamily="2" charset="0"/>
      <p:regular r:id="rId19"/>
      <p:bold r:id="rId20"/>
    </p:embeddedFont>
    <p:embeddedFont>
      <p:font typeface="Source Code Pro" panose="020B0509030403020204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9C2477-E0C4-46AD-8718-494B96B90409}">
  <a:tblStyle styleId="{1C9C2477-E0C4-46AD-8718-494B96B904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557" autoAdjust="0"/>
  </p:normalViewPr>
  <p:slideViewPr>
    <p:cSldViewPr snapToGrid="0">
      <p:cViewPr varScale="1">
        <p:scale>
          <a:sx n="118" d="100"/>
          <a:sy n="118" d="100"/>
        </p:scale>
        <p:origin x="1347" y="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964d04199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964d04199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2005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964d04199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964d04199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964d04199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964d04199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964d04199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964d041993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964d04199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964d041993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964d041993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964d041993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64d04199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64d04199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964d041993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964d041993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964d041993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964d041993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964d041993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964d041993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964d041993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964d041993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964d041993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964d041993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964d041993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964d041993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64d04199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64d04199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48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3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Talk About Transforms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ISTA 322 - Data Engineering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Last week - recap</a:t>
            </a:r>
            <a:endParaRPr dirty="0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Data types and data structures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Python refresher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Introduction to Google </a:t>
            </a:r>
            <a:r>
              <a:rPr lang="en-US" dirty="0" err="1"/>
              <a:t>colab</a:t>
            </a:r>
            <a:r>
              <a:rPr lang="en-US" dirty="0"/>
              <a:t> /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381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Middle out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l="3344" t="3762"/>
          <a:stretch/>
        </p:blipFill>
        <p:spPr>
          <a:xfrm>
            <a:off x="731164" y="1596277"/>
            <a:ext cx="7681674" cy="345747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3240750" y="2571750"/>
            <a:ext cx="1190400" cy="63420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with the T in ETL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Why?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You all know </a:t>
            </a:r>
            <a:r>
              <a:rPr lang="en" i="1" dirty="0"/>
              <a:t>some </a:t>
            </a:r>
            <a:r>
              <a:rPr lang="en" dirty="0"/>
              <a:t>python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Most of you have done some kind of data transforms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It’s the core of ETL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The other ends are a bit more of making technology work for you (sorta)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Overall, easier to build from the T in ETL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transforms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Transforms are key to making data useful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Two general purposes of transforms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Fixing errors</a:t>
            </a:r>
            <a:endParaRPr dirty="0"/>
          </a:p>
          <a:p>
            <a:pPr lvl="1">
              <a:spcBef>
                <a:spcPts val="0"/>
              </a:spcBef>
            </a:pPr>
            <a:r>
              <a:rPr lang="en" dirty="0"/>
              <a:t>Making data use</a:t>
            </a:r>
            <a:r>
              <a:rPr lang="en-US" dirty="0"/>
              <a:t>able </a:t>
            </a:r>
            <a:r>
              <a:rPr lang="en" dirty="0"/>
              <a:t>/ relevant</a:t>
            </a:r>
            <a:r>
              <a:rPr lang="en-US" dirty="0"/>
              <a:t>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We’ll cover major examples within each</a:t>
            </a:r>
            <a:endParaRPr dirty="0"/>
          </a:p>
          <a:p>
            <a:pPr lvl="1" indent="-342900">
              <a:spcBef>
                <a:spcPts val="0"/>
              </a:spcBef>
              <a:buSzPts val="1800"/>
              <a:buChar char="●"/>
            </a:pPr>
            <a:r>
              <a:rPr lang="en" dirty="0"/>
              <a:t>Solid foundation / framework</a:t>
            </a:r>
          </a:p>
          <a:p>
            <a:pPr lvl="1" indent="-342900">
              <a:spcBef>
                <a:spcPts val="0"/>
              </a:spcBef>
              <a:buSzPts val="1800"/>
              <a:buChar char="●"/>
            </a:pPr>
            <a:r>
              <a:rPr lang="en" dirty="0"/>
              <a:t>You’ll need to learn more throughout your careers</a:t>
            </a:r>
          </a:p>
          <a:p>
            <a:pPr marL="571500" lvl="1" indent="0">
              <a:spcBef>
                <a:spcPts val="0"/>
              </a:spcBef>
              <a:buSzPts val="1800"/>
              <a:buNone/>
            </a:pPr>
            <a:r>
              <a:rPr lang="en" dirty="0"/>
              <a:t>* Importance of “learning to learn”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Depends a lot on existing data quality and infrastructure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Fixing errors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Existing data can be filled with errors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Lack of precision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was entered wrong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Missing values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Bad fills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Unnecessary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Too many columns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 user doesn’t actually need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Long mappings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Repetitive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Duplication?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normalized?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Making data useable / relevant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Different clients will have different needs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Need to transform data into a format that is useful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Business intelligence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Aggregate daily statistics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Make key metrics to display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Filtering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Data science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Extract data from strings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Scale &amp; alter units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Binning/grouping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New features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Of course there are more, but not covering them all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ETL to rule them all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Couple notes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Don’t think you’re going to set up just one ETL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because you work with a DE doesn’t mean you won’t have to do an ETL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ETL doesn’t have to fix everything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We’re focused on a general framework here!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Transforms - errors</a:t>
            </a:r>
            <a:endParaRPr dirty="0"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Data sources can be filled with errors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Bad defaults might need to be fixed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Fill empty cells with 9999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Allow too wide of range on data input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Just allowing empty cells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Could be fine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Might need to fill</a:t>
            </a:r>
            <a:endParaRPr dirty="0"/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60929"/>
          <a:stretch/>
        </p:blipFill>
        <p:spPr>
          <a:xfrm>
            <a:off x="0" y="3662400"/>
            <a:ext cx="9144002" cy="136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/>
          <p:nvPr/>
        </p:nvSpPr>
        <p:spPr>
          <a:xfrm>
            <a:off x="4969750" y="4387600"/>
            <a:ext cx="868800" cy="42570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6216875" y="3731975"/>
            <a:ext cx="868800" cy="42570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1807875" y="3867000"/>
            <a:ext cx="868800" cy="42570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Transforms - errors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Data sources can be filled with errors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Bad defaults might need to be fixed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Fill empty cells with 9999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Allow too wide of range on data input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Just allowing empty cells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Could be fine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Might need to fill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Excessive data!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106 columns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Unnecessary data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Remove identifying info?</a:t>
            </a:r>
            <a:endParaRPr dirty="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5475" y="2728250"/>
            <a:ext cx="4278528" cy="22815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BB05297D-3D5B-48D9-A81E-D16E3AFF409C}"/>
              </a:ext>
            </a:extLst>
          </p:cNvPr>
          <p:cNvSpPr/>
          <p:nvPr/>
        </p:nvSpPr>
        <p:spPr>
          <a:xfrm>
            <a:off x="2728880" y="3869024"/>
            <a:ext cx="1824892" cy="13676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Transforms - Making data useable / relevant</a:t>
            </a:r>
            <a:endParaRPr dirty="0"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Many ways to accomplish this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Extract data from strings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Splitting columns to parse information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Regex fun times   </a:t>
            </a:r>
            <a:r>
              <a:rPr lang="en" b="1" dirty="0"/>
              <a:t>‘[0-9]{5}$’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Data type conversions</a:t>
            </a: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graphicFrame>
        <p:nvGraphicFramePr>
          <p:cNvPr id="124" name="Google Shape;124;p22"/>
          <p:cNvGraphicFramePr/>
          <p:nvPr/>
        </p:nvGraphicFramePr>
        <p:xfrm>
          <a:off x="118400" y="3450425"/>
          <a:ext cx="9025600" cy="2133450"/>
        </p:xfrm>
        <a:graphic>
          <a:graphicData uri="http://schemas.openxmlformats.org/drawingml/2006/table">
            <a:tbl>
              <a:tblPr>
                <a:noFill/>
                <a:tableStyleId>{1C9C2477-E0C4-46AD-8718-494B96B90409}</a:tableStyleId>
              </a:tblPr>
              <a:tblGrid>
                <a:gridCol w="90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2008-01-31 15:54:25	__RequestVerificationToken_Lw__=2ADB2	;+.ASPXAUTH=C31HDWD05KU00943S	/product/YJ29IOCVQ	http://www.abc.com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2005-12-08 02:36:30	__RequestVerificationToken_Lw__=13233	;+.ASPXAUTH=H7HTS9Q9CC8ZXSERD/product/MVI9HHP8A	http://www.ebay.com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2015-06-07 23:27:58	__RequestVerificationToken_Lw__=B322B	;+.ASPXAUTH=58SZL3FPGFUS8KLNA	/search/P5XKO3AC9	http://www.abc.com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2009-03-12 03:16:27	__RequestVerificationToken_Lw__=1A1C2	;+.ASPXAUTH=VBWZJJR6CG85YSOM3/product/A13025WBT	http://www.shophealthy.co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/>
                        <a:t>2014-07-23 08:36:03	__RequestVerificationToken_Lw__=2B1C2	;+.ASPXAUTH=VXBLEXUC177T4S7AA	/search/5PI9XD6LZ	                http://www.facebook.com</a:t>
                      </a:r>
                      <a:endParaRPr sz="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5" name="Google Shape;125;p22"/>
          <p:cNvSpPr/>
          <p:nvPr/>
        </p:nvSpPr>
        <p:spPr>
          <a:xfrm>
            <a:off x="2893925" y="3391875"/>
            <a:ext cx="868800" cy="164190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5531200" y="3391875"/>
            <a:ext cx="868800" cy="164190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7351775" y="3391875"/>
            <a:ext cx="868800" cy="164190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694500" y="3391875"/>
            <a:ext cx="549900" cy="164190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2915675" y="3028950"/>
            <a:ext cx="825300" cy="3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userID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5552950" y="3028950"/>
            <a:ext cx="825300" cy="3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action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7373525" y="3028950"/>
            <a:ext cx="825300" cy="3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domain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556800" y="3028950"/>
            <a:ext cx="825300" cy="3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time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Transforms - Making data useable / relevant</a:t>
            </a:r>
            <a:endParaRPr dirty="0"/>
          </a:p>
        </p:txBody>
      </p:sp>
      <p:sp>
        <p:nvSpPr>
          <p:cNvPr id="138" name="Google Shape;138;p23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Working with event level data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Binning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‘short’, ‘medium’, ‘long’ trips from trip distance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Aggregating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Number of trips per time, popular locations</a:t>
            </a:r>
            <a:endParaRPr dirty="0"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40413"/>
            <a:ext cx="9144000" cy="2577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Transforms - Making data useable / relevant</a:t>
            </a:r>
            <a:endParaRPr dirty="0"/>
          </a:p>
        </p:txBody>
      </p:sp>
      <p:sp>
        <p:nvSpPr>
          <p:cNvPr id="145" name="Google Shape;145;p2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Working with event level data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Altering units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Calculating useful metrics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Trip time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Speed of trip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Speed at different times</a:t>
            </a:r>
            <a:endParaRPr dirty="0"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40413"/>
            <a:ext cx="9144000" cy="2577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your data</a:t>
            </a:r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311700" y="1468824"/>
            <a:ext cx="8520600" cy="34040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You should constantly </a:t>
            </a:r>
            <a:r>
              <a:rPr lang="en" u="sng" dirty="0"/>
              <a:t>test</a:t>
            </a:r>
            <a:r>
              <a:rPr lang="en" dirty="0"/>
              <a:t> the ‘integrity’ of your data by </a:t>
            </a:r>
            <a:r>
              <a:rPr lang="en-US" dirty="0"/>
              <a:t>asking questions and checking expectations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General external formats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Right number of digits in zip/phone/social/ID/etc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Bounded in reality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Age in 0-115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Webpage had more views than clicks</a:t>
            </a:r>
            <a:endParaRPr dirty="0"/>
          </a:p>
          <a:p>
            <a:pPr lvl="1">
              <a:spcBef>
                <a:spcPts val="0"/>
              </a:spcBef>
            </a:pPr>
            <a:r>
              <a:rPr lang="en" dirty="0"/>
              <a:t>Only positive for some measures</a:t>
            </a:r>
          </a:p>
          <a:p>
            <a:r>
              <a:rPr lang="en" dirty="0"/>
              <a:t>Appropriate data structure</a:t>
            </a:r>
          </a:p>
          <a:p>
            <a:pPr lvl="1">
              <a:spcBef>
                <a:spcPts val="0"/>
              </a:spcBef>
            </a:pPr>
            <a:r>
              <a:rPr lang="en-US" dirty="0"/>
              <a:t>Right number of rows and columns</a:t>
            </a:r>
          </a:p>
          <a:p>
            <a:pPr lvl="1">
              <a:spcBef>
                <a:spcPts val="0"/>
              </a:spcBef>
            </a:pPr>
            <a:r>
              <a:rPr lang="en-US" dirty="0"/>
              <a:t>Correct data types</a:t>
            </a:r>
          </a:p>
          <a:p>
            <a:pPr lvl="1">
              <a:spcBef>
                <a:spcPts val="0"/>
              </a:spcBef>
            </a:pPr>
            <a:endParaRPr lang="en-US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Wrapping up</a:t>
            </a:r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The actual actions depend on the data </a:t>
            </a:r>
            <a:r>
              <a:rPr lang="en" b="1" i="1" dirty="0"/>
              <a:t>and</a:t>
            </a:r>
            <a:r>
              <a:rPr lang="en" dirty="0"/>
              <a:t> what you’re going to use it for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You’ll still need to do a lot of this even if you’re not a DE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Lots of my other DS classes have data cleaning lessons!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Don’t be afraid to use a subset to work 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Let’s go actually do this</a:t>
            </a:r>
            <a:endParaRPr dirty="0"/>
          </a:p>
        </p:txBody>
      </p:sp>
      <p:pic>
        <p:nvPicPr>
          <p:cNvPr id="159" name="Google Shape;159;p26"/>
          <p:cNvPicPr preferRelativeResize="0"/>
          <p:nvPr/>
        </p:nvPicPr>
        <p:blipFill rotWithShape="1">
          <a:blip r:embed="rId3">
            <a:alphaModFix/>
          </a:blip>
          <a:srcRect l="2151" t="6791" r="2227" b="12073"/>
          <a:stretch/>
        </p:blipFill>
        <p:spPr>
          <a:xfrm>
            <a:off x="2760475" y="3066750"/>
            <a:ext cx="3623049" cy="11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2BC2C-389C-4464-B61F-B09F630DF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for this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B2D5C-63C0-4A9E-A386-8FCB56909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Jupyter notebook</a:t>
            </a:r>
          </a:p>
          <a:p>
            <a:pPr lvl="1">
              <a:spcBef>
                <a:spcPts val="0"/>
              </a:spcBef>
            </a:pPr>
            <a:r>
              <a:rPr lang="en-US" dirty="0"/>
              <a:t>Data Transforms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069949738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PresentationFormat>On-screen Show (16:9)</PresentationFormat>
  <Paragraphs>128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Oswald</vt:lpstr>
      <vt:lpstr>Source Code Pro</vt:lpstr>
      <vt:lpstr>Modern Writer</vt:lpstr>
      <vt:lpstr>Week 3 Let’s Talk About Transforms</vt:lpstr>
      <vt:lpstr>Last week - recap</vt:lpstr>
      <vt:lpstr>Middle out</vt:lpstr>
      <vt:lpstr>Starting with the T in ETL</vt:lpstr>
      <vt:lpstr>Data transforms</vt:lpstr>
      <vt:lpstr>Fixing errors</vt:lpstr>
      <vt:lpstr>Making data useable / relevant</vt:lpstr>
      <vt:lpstr>One ETL to rule them all</vt:lpstr>
      <vt:lpstr>Transforms - errors</vt:lpstr>
      <vt:lpstr>Transforms - errors</vt:lpstr>
      <vt:lpstr>Transforms - Making data useable / relevant</vt:lpstr>
      <vt:lpstr>Transforms - Making data useable / relevant</vt:lpstr>
      <vt:lpstr>Transforms - Making data useable / relevant</vt:lpstr>
      <vt:lpstr>Checking your data</vt:lpstr>
      <vt:lpstr>Wrapping up</vt:lpstr>
      <vt:lpstr>Tasks for this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2024-03-20T22:54:33Z</dcterms:modified>
</cp:coreProperties>
</file>