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Oswald" panose="00000500000000000000" pitchFamily="2" charset="0"/>
      <p:regular r:id="rId27"/>
      <p:bold r:id="rId28"/>
    </p:embeddedFont>
    <p:embeddedFont>
      <p:font typeface="Source Code Pro" panose="020B0509030403020204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D8515F-02B7-4A11-8DE3-30FA81B20016}">
  <a:tblStyle styleId="{25D8515F-02B7-4A11-8DE3-30FA81B200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657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4c09d427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4c09d427b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a4c09d427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a4c09d427b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a4c09d427b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a4c09d427b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4c09d427b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4c09d427b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a4c09d427b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a4c09d427b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4c09d427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4c09d427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a4c09d427b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a4c09d427b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4c09d427b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a4c09d427b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a4c09d427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a4c09d427b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4c09d427b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a4c09d427b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a4c09d427b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a4c09d427b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4c09d427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4c09d427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4c09d427b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a4c09d427b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a4c09d427b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a4c09d427b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a4c09d427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a4c09d427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a4c09d427b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a4c09d427b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a4c09d427b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a4c09d427b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a4c09d427b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a4c09d427b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a4c09d427b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a4c09d427b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a4c09d427b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a4c09d427b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a4c09d427b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a4c09d427b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a4c09d427b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a4c09d427b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a4c09d427b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a4c09d427b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Normalization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ISTA 322 - Data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normalization?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I’ve referred to it a lot but haven’t directly explained.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Normalization is a way to organize data in a RDB.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Follows a set of rules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 flexibility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Reduce redundancy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Consistent format and dependency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rules make up a series of ‘normal forms’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Three main normal forms we’ll focus 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forms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1st normal form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repeating groups within tables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Separate tables for related 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set of related data should have a </a:t>
            </a:r>
            <a:r>
              <a:rPr lang="en" b="1"/>
              <a:t>primary key</a:t>
            </a:r>
            <a:endParaRPr b="1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forms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1st normal form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repeating groups within tables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Separate tables for related 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set of related data should have a </a:t>
            </a:r>
            <a:r>
              <a:rPr lang="en" b="1"/>
              <a:t>primary key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2nd normal form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Separate tables for values that apply to multiple records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related to others with a </a:t>
            </a:r>
            <a:r>
              <a:rPr lang="en" b="1"/>
              <a:t>foreign key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forms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1st normal form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repeating groups within tables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Separate tables for related 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set of related data should have a </a:t>
            </a:r>
            <a:r>
              <a:rPr lang="en" b="1"/>
              <a:t>primary key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2nd normal form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Separate tables for values that apply to multiple records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related to others with a </a:t>
            </a:r>
            <a:r>
              <a:rPr lang="en" b="1"/>
              <a:t>foreign key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3rd normal form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fields that don’t rely on the key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 - Data</a:t>
            </a:r>
            <a:endParaRPr/>
          </a:p>
        </p:txBody>
      </p:sp>
      <p:graphicFrame>
        <p:nvGraphicFramePr>
          <p:cNvPr id="93" name="Google Shape;93;p18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9400">
                <a:tc gridSpan="8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genre_1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genre_2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4" name="Google Shape;94;p18"/>
          <p:cNvSpPr txBox="1"/>
          <p:nvPr/>
        </p:nvSpPr>
        <p:spPr>
          <a:xfrm>
            <a:off x="7245300" y="1319800"/>
            <a:ext cx="1899000" cy="3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Sample non-normal data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Might be good for analysis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Common format for CSV/excel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But lots and lots of extra info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Difficult to update/change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 - 1NF</a:t>
            </a:r>
            <a:endParaRPr/>
          </a:p>
        </p:txBody>
      </p:sp>
      <p:graphicFrame>
        <p:nvGraphicFramePr>
          <p:cNvPr id="100" name="Google Shape;100;p19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9400">
                <a:tc gridSpan="8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genre_1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genre_2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1" name="Google Shape;101;p19"/>
          <p:cNvSpPr/>
          <p:nvPr/>
        </p:nvSpPr>
        <p:spPr>
          <a:xfrm>
            <a:off x="4700875" y="1673625"/>
            <a:ext cx="819600" cy="15564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7245300" y="1319800"/>
            <a:ext cx="1899000" cy="3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Repeating groups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List of data in a column/field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Or multiple fields with the same data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Must ‘stack’ columns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5520475" y="1673625"/>
            <a:ext cx="819600" cy="15564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 - 1NF</a:t>
            </a:r>
            <a:endParaRPr/>
          </a:p>
        </p:txBody>
      </p:sp>
      <p:graphicFrame>
        <p:nvGraphicFramePr>
          <p:cNvPr id="109" name="Google Shape;109;p20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400">
                <a:tc gridSpan="7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0" name="Google Shape;110;p20"/>
          <p:cNvSpPr txBox="1"/>
          <p:nvPr/>
        </p:nvSpPr>
        <p:spPr>
          <a:xfrm>
            <a:off x="7245300" y="1319800"/>
            <a:ext cx="1899000" cy="3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Repeating groups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List of data in a column/field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Or multiple fields with the same data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Must ‘stack’ columns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4739000" y="1673625"/>
            <a:ext cx="819600" cy="25941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 - 1NF</a:t>
            </a:r>
            <a:endParaRPr/>
          </a:p>
        </p:txBody>
      </p:sp>
      <p:graphicFrame>
        <p:nvGraphicFramePr>
          <p:cNvPr id="117" name="Google Shape;117;p21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400">
                <a:tc gridSpan="7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18" name="Google Shape;118;p21"/>
          <p:cNvGraphicFramePr/>
          <p:nvPr/>
        </p:nvGraphicFramePr>
        <p:xfrm>
          <a:off x="7195575" y="8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artist_genre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indie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9" name="Google Shape;119;p21"/>
          <p:cNvSpPr txBox="1"/>
          <p:nvPr/>
        </p:nvSpPr>
        <p:spPr>
          <a:xfrm>
            <a:off x="7245300" y="2795475"/>
            <a:ext cx="18990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Repeating groups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Break into own table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4739000" y="1673625"/>
            <a:ext cx="819600" cy="25941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1"/>
          <p:cNvSpPr/>
          <p:nvPr/>
        </p:nvSpPr>
        <p:spPr>
          <a:xfrm>
            <a:off x="7911175" y="1372625"/>
            <a:ext cx="819600" cy="12969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 - 1NF</a:t>
            </a:r>
            <a:endParaRPr/>
          </a:p>
        </p:txBody>
      </p:sp>
      <p:graphicFrame>
        <p:nvGraphicFramePr>
          <p:cNvPr id="127" name="Google Shape;127;p22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400">
                <a:tc gridSpan="6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8" name="Google Shape;128;p22"/>
          <p:cNvGraphicFramePr/>
          <p:nvPr/>
        </p:nvGraphicFramePr>
        <p:xfrm>
          <a:off x="7195575" y="8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artist_genre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indie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9" name="Google Shape;129;p22"/>
          <p:cNvSpPr txBox="1"/>
          <p:nvPr/>
        </p:nvSpPr>
        <p:spPr>
          <a:xfrm>
            <a:off x="7245300" y="2795475"/>
            <a:ext cx="18990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Repeating groups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Break into own table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Reduce other table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7911175" y="1372625"/>
            <a:ext cx="819600" cy="12969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</a:t>
            </a:r>
            <a:endParaRPr/>
          </a:p>
        </p:txBody>
      </p:sp>
      <p:graphicFrame>
        <p:nvGraphicFramePr>
          <p:cNvPr id="136" name="Google Shape;136;p23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400">
                <a:tc gridSpan="6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7" name="Google Shape;137;p23"/>
          <p:cNvGraphicFramePr/>
          <p:nvPr/>
        </p:nvGraphicFramePr>
        <p:xfrm>
          <a:off x="7195575" y="8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artist_genre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indie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" name="Google Shape;138;p23"/>
          <p:cNvSpPr txBox="1"/>
          <p:nvPr/>
        </p:nvSpPr>
        <p:spPr>
          <a:xfrm>
            <a:off x="7245300" y="2795475"/>
            <a:ext cx="18990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Repeating groups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Break into own table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Reduce other table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Foreign key in artist_info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Foreign key in top_track_info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7195575" y="1372625"/>
            <a:ext cx="715500" cy="12969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3"/>
          <p:cNvSpPr/>
          <p:nvPr/>
        </p:nvSpPr>
        <p:spPr>
          <a:xfrm>
            <a:off x="1405025" y="1673625"/>
            <a:ext cx="715500" cy="15564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1243175" y="3721825"/>
            <a:ext cx="10392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Foreign key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5875763" y="1718825"/>
            <a:ext cx="9552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Foreignkey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43" name="Google Shape;143;p23"/>
          <p:cNvCxnSpPr>
            <a:stCxn id="142" idx="3"/>
            <a:endCxn id="139" idx="1"/>
          </p:cNvCxnSpPr>
          <p:nvPr/>
        </p:nvCxnSpPr>
        <p:spPr>
          <a:xfrm>
            <a:off x="6830963" y="2021075"/>
            <a:ext cx="3645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144;p23"/>
          <p:cNvCxnSpPr>
            <a:stCxn id="141" idx="0"/>
            <a:endCxn id="140" idx="2"/>
          </p:cNvCxnSpPr>
          <p:nvPr/>
        </p:nvCxnSpPr>
        <p:spPr>
          <a:xfrm rot="10800000">
            <a:off x="1762775" y="3230125"/>
            <a:ext cx="0" cy="491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</a:t>
            </a:r>
            <a:endParaRPr/>
          </a:p>
        </p:txBody>
      </p:sp>
      <p:graphicFrame>
        <p:nvGraphicFramePr>
          <p:cNvPr id="150" name="Google Shape;150;p24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400">
                <a:tc gridSpan="6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1" name="Google Shape;151;p24"/>
          <p:cNvGraphicFramePr/>
          <p:nvPr/>
        </p:nvGraphicFramePr>
        <p:xfrm>
          <a:off x="7195575" y="8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artist_genre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indie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2" name="Google Shape;152;p24"/>
          <p:cNvSpPr txBox="1"/>
          <p:nvPr/>
        </p:nvSpPr>
        <p:spPr>
          <a:xfrm>
            <a:off x="7245300" y="2795475"/>
            <a:ext cx="18990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Repeating groups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Break into own table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Reduce other table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Foreign key in artist_info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Foreign key in top_track_info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7195575" y="1372625"/>
            <a:ext cx="715500" cy="12969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1405025" y="1673625"/>
            <a:ext cx="715500" cy="15564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1243175" y="3721825"/>
            <a:ext cx="10392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Foreign key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5875763" y="1718825"/>
            <a:ext cx="9552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Foreignkey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57" name="Google Shape;157;p24"/>
          <p:cNvCxnSpPr>
            <a:stCxn id="156" idx="3"/>
            <a:endCxn id="153" idx="1"/>
          </p:cNvCxnSpPr>
          <p:nvPr/>
        </p:nvCxnSpPr>
        <p:spPr>
          <a:xfrm>
            <a:off x="6830963" y="2021075"/>
            <a:ext cx="3645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Google Shape;158;p24"/>
          <p:cNvCxnSpPr>
            <a:stCxn id="155" idx="0"/>
            <a:endCxn id="154" idx="2"/>
          </p:cNvCxnSpPr>
          <p:nvPr/>
        </p:nvCxnSpPr>
        <p:spPr>
          <a:xfrm rot="10800000">
            <a:off x="1762775" y="3230125"/>
            <a:ext cx="0" cy="491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" name="Google Shape;159;p24"/>
          <p:cNvSpPr/>
          <p:nvPr/>
        </p:nvSpPr>
        <p:spPr>
          <a:xfrm>
            <a:off x="2120625" y="1673625"/>
            <a:ext cx="715500" cy="15564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1958775" y="4255225"/>
            <a:ext cx="10392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Primary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key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61" name="Google Shape;161;p24"/>
          <p:cNvCxnSpPr>
            <a:stCxn id="160" idx="0"/>
            <a:endCxn id="159" idx="2"/>
          </p:cNvCxnSpPr>
          <p:nvPr/>
        </p:nvCxnSpPr>
        <p:spPr>
          <a:xfrm rot="10800000">
            <a:off x="2478375" y="3230125"/>
            <a:ext cx="0" cy="1025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 - 2NF</a:t>
            </a:r>
            <a:endParaRPr/>
          </a:p>
        </p:txBody>
      </p:sp>
      <p:graphicFrame>
        <p:nvGraphicFramePr>
          <p:cNvPr id="167" name="Google Shape;167;p25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400">
                <a:tc gridSpan="6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8" name="Google Shape;168;p25"/>
          <p:cNvGraphicFramePr/>
          <p:nvPr/>
        </p:nvGraphicFramePr>
        <p:xfrm>
          <a:off x="7195575" y="8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artist_genre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indie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9" name="Google Shape;169;p25"/>
          <p:cNvSpPr txBox="1"/>
          <p:nvPr/>
        </p:nvSpPr>
        <p:spPr>
          <a:xfrm>
            <a:off x="651800" y="3278850"/>
            <a:ext cx="18990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Redundant info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Artist info isn’t dependent on song info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217900" y="1673625"/>
            <a:ext cx="1187100" cy="15564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 - 2NF</a:t>
            </a:r>
            <a:endParaRPr/>
          </a:p>
        </p:txBody>
      </p:sp>
      <p:graphicFrame>
        <p:nvGraphicFramePr>
          <p:cNvPr id="176" name="Google Shape;176;p26"/>
          <p:cNvGraphicFramePr/>
          <p:nvPr/>
        </p:nvGraphicFramePr>
        <p:xfrm>
          <a:off x="7195575" y="8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artist_genre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indie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7" name="Google Shape;177;p26"/>
          <p:cNvGraphicFramePr/>
          <p:nvPr/>
        </p:nvGraphicFramePr>
        <p:xfrm>
          <a:off x="6027200" y="302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y88420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8" name="Google Shape;178;p26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9" name="Google Shape;179;p26"/>
          <p:cNvSpPr txBox="1"/>
          <p:nvPr/>
        </p:nvSpPr>
        <p:spPr>
          <a:xfrm>
            <a:off x="651800" y="3278850"/>
            <a:ext cx="18990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Redundant info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Artist info isn’t dependent on song info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Split off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6027200" y="3545225"/>
            <a:ext cx="1187100" cy="7782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 - 3NF</a:t>
            </a:r>
            <a:endParaRPr/>
          </a:p>
        </p:txBody>
      </p:sp>
      <p:graphicFrame>
        <p:nvGraphicFramePr>
          <p:cNvPr id="186" name="Google Shape;186;p27"/>
          <p:cNvGraphicFramePr/>
          <p:nvPr/>
        </p:nvGraphicFramePr>
        <p:xfrm>
          <a:off x="7195575" y="8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artist_genre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indie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7" name="Google Shape;187;p27"/>
          <p:cNvGraphicFramePr/>
          <p:nvPr/>
        </p:nvGraphicFramePr>
        <p:xfrm>
          <a:off x="6027200" y="302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y88420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8" name="Google Shape;188;p27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9" name="Google Shape;189;p27"/>
          <p:cNvSpPr txBox="1"/>
          <p:nvPr/>
        </p:nvSpPr>
        <p:spPr>
          <a:xfrm>
            <a:off x="651800" y="3278850"/>
            <a:ext cx="24183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Remove data not dependent on key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Followers isn’t dependent on key of song_id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Make own table?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Add to artist_info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3551875" y="1673625"/>
            <a:ext cx="800700" cy="15564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simple example - 3NF</a:t>
            </a:r>
            <a:endParaRPr/>
          </a:p>
        </p:txBody>
      </p:sp>
      <p:graphicFrame>
        <p:nvGraphicFramePr>
          <p:cNvPr id="196" name="Google Shape;196;p28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400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5691321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97" name="Google Shape;197;p28"/>
          <p:cNvGraphicFramePr/>
          <p:nvPr/>
        </p:nvGraphicFramePr>
        <p:xfrm>
          <a:off x="7195575" y="8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artist_genre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indie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8" name="Google Shape;198;p28"/>
          <p:cNvGraphicFramePr/>
          <p:nvPr/>
        </p:nvGraphicFramePr>
        <p:xfrm>
          <a:off x="6027200" y="302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40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9" name="Google Shape;199;p28"/>
          <p:cNvSpPr txBox="1"/>
          <p:nvPr/>
        </p:nvSpPr>
        <p:spPr>
          <a:xfrm>
            <a:off x="651800" y="3278850"/>
            <a:ext cx="24183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Source Code Pro"/>
                <a:ea typeface="Source Code Pro"/>
                <a:cs typeface="Source Code Pro"/>
                <a:sym typeface="Source Code Pro"/>
              </a:rPr>
              <a:t>Remove data not dependent on key</a:t>
            </a:r>
            <a:endParaRPr sz="15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Followers isn’t dependent on key of song_id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Make own table?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46304" lvl="0" indent="-104394" algn="l" rtl="0">
              <a:spcBef>
                <a:spcPts val="0"/>
              </a:spcBef>
              <a:spcAft>
                <a:spcPts val="0"/>
              </a:spcAft>
              <a:buSzPts val="1500"/>
              <a:buFont typeface="Source Code Pro"/>
              <a:buChar char="●"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Add to artist_info?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7929925" y="3545225"/>
            <a:ext cx="800700" cy="778200"/>
          </a:xfrm>
          <a:prstGeom prst="rect">
            <a:avLst/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schema</a:t>
            </a:r>
            <a:endParaRPr/>
          </a:p>
        </p:txBody>
      </p:sp>
      <p:sp>
        <p:nvSpPr>
          <p:cNvPr id="206" name="Google Shape;206;p29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Arrangement of tables is called a schema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at head of raw data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Hand draw tables to normalize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list columns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Schema of sales data</a:t>
            </a:r>
            <a:endParaRPr/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704" y="2729975"/>
            <a:ext cx="3919051" cy="24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667" y="3504825"/>
            <a:ext cx="4118635" cy="159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8649" y="3504824"/>
            <a:ext cx="5543702" cy="163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0148" y="0"/>
            <a:ext cx="5543700" cy="3414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Doing this in Python</a:t>
            </a:r>
            <a:endParaRPr/>
          </a:p>
        </p:txBody>
      </p:sp>
      <p:sp>
        <p:nvSpPr>
          <p:cNvPr id="220" name="Google Shape;220;p3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 into different dataframes by selecting columns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 rows if needed!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drop_duplicates() is helpful!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 keys before or after split?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to RDB and upload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Doing this in Python</a:t>
            </a:r>
            <a:endParaRPr/>
          </a:p>
        </p:txBody>
      </p:sp>
      <p:graphicFrame>
        <p:nvGraphicFramePr>
          <p:cNvPr id="226" name="Google Shape;226;p32"/>
          <p:cNvGraphicFramePr/>
          <p:nvPr/>
        </p:nvGraphicFramePr>
        <p:xfrm>
          <a:off x="217900" y="11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118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400">
                <a:tc gridSpan="7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top_track_info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streams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75092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Dance w/t Dead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93910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156000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21048820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Frank Sinatra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14029901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12020900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a01818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Meridian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5401928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6800700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a01912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Bloom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5691321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6800700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27" name="Google Shape;227;p32"/>
          <p:cNvGraphicFramePr/>
          <p:nvPr/>
        </p:nvGraphicFramePr>
        <p:xfrm>
          <a:off x="7195575" y="8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{25D8515F-02B7-4A11-8DE3-30FA81B20016}</a:tableStyleId>
              </a:tblPr>
              <a:tblGrid>
                <a:gridCol w="7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artist_genre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darkwave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electronic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y88420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indie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8" name="Google Shape;228;p32"/>
          <p:cNvSpPr txBox="1"/>
          <p:nvPr/>
        </p:nvSpPr>
        <p:spPr>
          <a:xfrm>
            <a:off x="6650175" y="2795475"/>
            <a:ext cx="24939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artist_genre = top_track_info[[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‘artist_id’, ‘genre’]]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artist_genre = 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artist_genre.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drop_duplicates()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Normalization isn’t the only way</a:t>
            </a:r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 and Snowflake schema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Fact table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Core measurements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Sales/bookings/listens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Highly granular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Foreign keys to dimension tables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Dimension table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Descriptions of elements in fact table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used in data warehouses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Schema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5424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AirBnB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Fact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bookings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Dimensions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apartments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customer</a:t>
            </a:r>
            <a:endParaRPr/>
          </a:p>
        </p:txBody>
      </p:sp>
      <p:pic>
        <p:nvPicPr>
          <p:cNvPr id="241" name="Google Shape;241;p34"/>
          <p:cNvPicPr preferRelativeResize="0"/>
          <p:nvPr/>
        </p:nvPicPr>
        <p:blipFill rotWithShape="1">
          <a:blip r:embed="rId3">
            <a:alphaModFix/>
          </a:blip>
          <a:srcRect l="6244" t="2388" r="14416" b="3952"/>
          <a:stretch/>
        </p:blipFill>
        <p:spPr>
          <a:xfrm>
            <a:off x="3929650" y="94475"/>
            <a:ext cx="5138774" cy="48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Snowflake Schema</a:t>
            </a:r>
            <a:endParaRPr/>
          </a:p>
        </p:txBody>
      </p:sp>
      <p:sp>
        <p:nvSpPr>
          <p:cNvPr id="247" name="Google Shape;247;p3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5424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Star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Further normalization in dimension tables</a:t>
            </a:r>
            <a:endParaRPr/>
          </a:p>
        </p:txBody>
      </p:sp>
      <p:pic>
        <p:nvPicPr>
          <p:cNvPr id="248" name="Google Shape;2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500" y="1258400"/>
            <a:ext cx="4985101" cy="3127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Wrapping up Normalization</a:t>
            </a:r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Normalization is key to making a database stable, maintainable, and efficient.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Tradeoffs are made regarding how far you want to normalize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balloon into tons of tables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 normalization is not the only way!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not a RDB design class.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1847</Words>
  <Application>Microsoft Office PowerPoint</Application>
  <PresentationFormat>On-screen Show (16:9)</PresentationFormat>
  <Paragraphs>916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Oswald</vt:lpstr>
      <vt:lpstr>Arial</vt:lpstr>
      <vt:lpstr>Source Code Pro</vt:lpstr>
      <vt:lpstr>Modern Writer</vt:lpstr>
      <vt:lpstr>Database Normalization</vt:lpstr>
      <vt:lpstr>What is normalization?</vt:lpstr>
      <vt:lpstr>Normal forms</vt:lpstr>
      <vt:lpstr>Normal forms</vt:lpstr>
      <vt:lpstr>Normal forms</vt:lpstr>
      <vt:lpstr>Let’s look at a simple example - Data</vt:lpstr>
      <vt:lpstr>Let’s look at a simple example - 1NF</vt:lpstr>
      <vt:lpstr>Let’s look at a simple example - 1NF</vt:lpstr>
      <vt:lpstr>Let’s look at a simple example - 1NF</vt:lpstr>
      <vt:lpstr>Let’s look at a simple example - 1NF</vt:lpstr>
      <vt:lpstr>Let’s look at a simple example</vt:lpstr>
      <vt:lpstr>Let’s look at a simple example</vt:lpstr>
      <vt:lpstr>Let’s look at a simple example - 2NF</vt:lpstr>
      <vt:lpstr>Let’s look at a simple example - 2NF</vt:lpstr>
      <vt:lpstr>Let’s look at a simple example - 3NF</vt:lpstr>
      <vt:lpstr>Let’s look at a simple example - 3NF</vt:lpstr>
      <vt:lpstr>Creating a schema</vt:lpstr>
      <vt:lpstr>PowerPoint Presentation</vt:lpstr>
      <vt:lpstr>Doing this in Python</vt:lpstr>
      <vt:lpstr>Doing this in Python</vt:lpstr>
      <vt:lpstr>Normalization isn’t the only way</vt:lpstr>
      <vt:lpstr>Star Schema</vt:lpstr>
      <vt:lpstr>Snowflake Schema</vt:lpstr>
      <vt:lpstr>Wrapping up Normalization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2021-10-19T01:13:58Z</dcterms:modified>
</cp:coreProperties>
</file>