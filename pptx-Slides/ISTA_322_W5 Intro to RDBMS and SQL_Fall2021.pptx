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1" r:id="rId10"/>
    <p:sldId id="292" r:id="rId11"/>
    <p:sldId id="266" r:id="rId12"/>
    <p:sldId id="267" r:id="rId13"/>
    <p:sldId id="293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embeddedFontLst>
    <p:embeddedFont>
      <p:font typeface="Oswald" panose="00000500000000000000" pitchFamily="2" charset="0"/>
      <p:regular r:id="rId26"/>
      <p:bold r:id="rId27"/>
    </p:embeddedFont>
    <p:embeddedFont>
      <p:font typeface="Source Code Pro" panose="020B0509030403020204" pitchFamily="49" charset="0"/>
      <p:regular r:id="rId28"/>
      <p:bold r:id="rId29"/>
      <p:italic r:id="rId30"/>
      <p:boldItalic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79A4BE-A3DD-4B19-9A34-DD28EAF4F731}">
  <a:tblStyle styleId="{D379A4BE-A3DD-4B19-9A34-DD28EAF4F7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07" autoAdjust="0"/>
  </p:normalViewPr>
  <p:slideViewPr>
    <p:cSldViewPr snapToGrid="0">
      <p:cViewPr varScale="1">
        <p:scale>
          <a:sx n="67" d="100"/>
          <a:sy n="67" d="100"/>
        </p:scale>
        <p:origin x="1264" y="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9d018883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9d018883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99d01888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99d01888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9d0188835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9d0188835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9d0188835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9d0188835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9d0188835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9d0188835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9d0188835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9d0188835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315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9d018883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9d018883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16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99d0188835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99d0188835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99d0188835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99d0188835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9d018883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99d018883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01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9d0188835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99d0188835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c773f32e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9c773f32e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9d0188835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99d0188835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99d0188835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99d0188835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9d0188835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99d0188835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9d0188835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99d0188835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c773f32e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9c773f32e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c773f32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9c773f32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c773f32e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9c773f32e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9d0188835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99d0188835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RDBMS and SQL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ISTA 322 - Data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RDBMS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Relational database management system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Relational is </a:t>
            </a:r>
            <a:r>
              <a:rPr lang="en" u="sng" dirty="0"/>
              <a:t>key</a:t>
            </a:r>
            <a:endParaRPr u="sng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Series of tables that are </a:t>
            </a:r>
            <a:r>
              <a:rPr lang="en" i="1" dirty="0"/>
              <a:t>related</a:t>
            </a:r>
            <a:r>
              <a:rPr lang="en" dirty="0"/>
              <a:t> to one another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The values in one table have something to do with values in another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connections between tables are the keys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Tables are… in table format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Row/column format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22800" y="481750"/>
            <a:ext cx="8889000" cy="4590900"/>
          </a:xfrm>
          <a:prstGeom prst="roundRect">
            <a:avLst>
              <a:gd name="adj" fmla="val 4985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5253775" y="2796675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track_features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a93018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a32201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6" name="Google Shape;76;p15"/>
          <p:cNvGraphicFramePr/>
          <p:nvPr/>
        </p:nvGraphicFramePr>
        <p:xfrm>
          <a:off x="238375" y="3574875"/>
          <a:ext cx="3361300" cy="12970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10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artist_info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Dance w/t Dead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Frank Sinatra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12020900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ODESZA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i88010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chillwave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3987400</a:t>
                      </a:r>
                      <a:endParaRPr sz="1000" dirty="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7" name="Google Shape;77;p15"/>
          <p:cNvGraphicFramePr/>
          <p:nvPr/>
        </p:nvGraphicFramePr>
        <p:xfrm>
          <a:off x="3111600" y="597525"/>
          <a:ext cx="3463425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4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artist_albums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album_id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album_name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released</a:t>
                      </a:r>
                      <a:endParaRPr sz="1000" b="1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near_dark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2019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the_shape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2017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a93018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abyss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2016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a32201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my_way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1969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duets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1993</a:t>
                      </a:r>
                      <a:endParaRPr sz="100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thats_life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1966</a:t>
                      </a:r>
                      <a:endParaRPr sz="1000" dirty="0"/>
                    </a:p>
                  </a:txBody>
                  <a:tcPr marL="91425" marR="91425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8" name="Google Shape;78;p15"/>
          <p:cNvSpPr/>
          <p:nvPr/>
        </p:nvSpPr>
        <p:spPr>
          <a:xfrm>
            <a:off x="3111600" y="856925"/>
            <a:ext cx="679500" cy="18159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337200" y="3834275"/>
            <a:ext cx="731700" cy="10377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791250" y="856925"/>
            <a:ext cx="7809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253775" y="3056075"/>
            <a:ext cx="6795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38800" y="727350"/>
            <a:ext cx="1681200" cy="10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Three tables make up our named RDB: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spotify_db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599675" y="2939900"/>
            <a:ext cx="1030500" cy="4701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Keys link tables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4" name="Google Shape;84;p15"/>
          <p:cNvCxnSpPr>
            <a:stCxn id="83" idx="0"/>
          </p:cNvCxnSpPr>
          <p:nvPr/>
        </p:nvCxnSpPr>
        <p:spPr>
          <a:xfrm rot="10800000">
            <a:off x="3514025" y="2748800"/>
            <a:ext cx="600900" cy="19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5"/>
          <p:cNvCxnSpPr>
            <a:stCxn id="83" idx="0"/>
          </p:cNvCxnSpPr>
          <p:nvPr/>
        </p:nvCxnSpPr>
        <p:spPr>
          <a:xfrm rot="10800000">
            <a:off x="4042925" y="2711000"/>
            <a:ext cx="72000" cy="2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5"/>
          <p:cNvCxnSpPr>
            <a:stCxn id="83" idx="1"/>
          </p:cNvCxnSpPr>
          <p:nvPr/>
        </p:nvCxnSpPr>
        <p:spPr>
          <a:xfrm flipH="1">
            <a:off x="2068775" y="3174950"/>
            <a:ext cx="1530900" cy="612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7" name="Google Shape;87;p15"/>
          <p:cNvCxnSpPr>
            <a:stCxn id="83" idx="3"/>
          </p:cNvCxnSpPr>
          <p:nvPr/>
        </p:nvCxnSpPr>
        <p:spPr>
          <a:xfrm>
            <a:off x="4630175" y="3174950"/>
            <a:ext cx="565200" cy="301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122800" y="481750"/>
            <a:ext cx="8889000" cy="4590900"/>
          </a:xfrm>
          <a:prstGeom prst="roundRect">
            <a:avLst>
              <a:gd name="adj" fmla="val 4985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3" name="Google Shape;93;p16"/>
          <p:cNvGraphicFramePr/>
          <p:nvPr/>
        </p:nvGraphicFramePr>
        <p:xfrm>
          <a:off x="450475" y="2743200"/>
          <a:ext cx="8243025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79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0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59400">
                <a:tc gridSpan="10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artist</a:t>
                      </a:r>
                      <a:endParaRPr sz="1000" b="1"/>
                    </a:p>
                  </a:txBody>
                  <a:tcPr marL="91425" marR="91425" marT="45700" marB="457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album_id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album_name</a:t>
                      </a:r>
                      <a:endParaRPr sz="1000" b="1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released</a:t>
                      </a:r>
                      <a:endParaRPr sz="1000" b="1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genre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followers</a:t>
                      </a:r>
                      <a:endParaRPr sz="1000" b="1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a99189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near_dark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2019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a73198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the_shape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2017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a93018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abyss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2016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synthwave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156000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a32201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my_way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1969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12020900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a23812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duets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1993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12020900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a83012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thats_life</a:t>
                      </a:r>
                      <a:endParaRPr sz="1000"/>
                    </a:p>
                  </a:txBody>
                  <a:tcPr marL="91425" marR="91425" marT="45700" marB="457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1966</a:t>
                      </a:r>
                      <a:endParaRPr sz="1000"/>
                    </a:p>
                  </a:txBody>
                  <a:tcPr marL="91425" marR="91425" marT="45700" marB="457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0.05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traditional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12020900</a:t>
                      </a:r>
                      <a:endParaRPr sz="1000" dirty="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4" name="Google Shape;94;p16"/>
          <p:cNvSpPr txBox="1"/>
          <p:nvPr/>
        </p:nvSpPr>
        <p:spPr>
          <a:xfrm>
            <a:off x="538800" y="727350"/>
            <a:ext cx="5506800" cy="10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In contrast to just a table with all information.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Lots of redundancy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Lots of information you don’t need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RDBMS &amp; SQL</a:t>
            </a:r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311700" y="145937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- Structured Query Language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‘Sequel’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‘S-Q-L’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language used to work with a RDBMS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“Connect to the SQL DB” really means “Connect to the RDBMS”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many RDBMS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MySQL, SQLite, MariaDB, Oracle, </a:t>
            </a:r>
            <a:r>
              <a:rPr lang="en" b="1"/>
              <a:t>PostgreSQL</a:t>
            </a:r>
            <a:r>
              <a:rPr lang="en"/>
              <a:t>, many more…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has its own strengths and weakness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it’s own SQL syntax :(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Syntax - But first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RDBMS can reside a lot of places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be on your local computer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be on a company server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be on the cloud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Lots goes into managing databases - not going to cover all here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thing for now is how to connect and interact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Connect to RDBMS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To connect need credentials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Name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Host (location)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Username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Password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DB Manger controls acces, etc.</a:t>
            </a:r>
            <a:endParaRPr dirty="0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19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Create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Fetch data using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object executes query</a:t>
            </a:r>
          </a:p>
        </p:txBody>
      </p:sp>
    </p:spTree>
    <p:extLst>
      <p:ext uri="{BB962C8B-B14F-4D97-AF65-F5344CB8AC3E}">
        <p14:creationId xmlns:p14="http://schemas.microsoft.com/office/powerpoint/2010/main" val="2802472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Working with a RDBMS</a:t>
            </a:r>
            <a:br>
              <a:rPr lang="en" dirty="0"/>
            </a:br>
            <a:r>
              <a:rPr lang="en" sz="1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Fetch data using cursor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26" name="Google Shape;126;p20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7" name="Google Shape;127;p20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urce Code Pro"/>
                <a:ea typeface="Source Code Pro"/>
                <a:cs typeface="Source Code Pro"/>
                <a:sym typeface="Source Code Pro"/>
              </a:rPr>
              <a:t>Memory allocation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30" name="Google Shape;130;p20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20"/>
          <p:cNvCxnSpPr>
            <a:stCxn id="124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" name="Google Shape;132;p20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12;p19">
            <a:extLst>
              <a:ext uri="{FF2B5EF4-FFF2-40B4-BE49-F238E27FC236}">
                <a16:creationId xmlns:a16="http://schemas.microsoft.com/office/drawing/2014/main" id="{1CEFCF52-634E-4A83-B88B-3A2AE21C1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468825"/>
            <a:ext cx="3161303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allocates memory at the RDB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object executes query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Cursor used to fetch results which are then displayed or stored locally</a:t>
            </a:r>
          </a:p>
        </p:txBody>
      </p:sp>
    </p:spTree>
    <p:extLst>
      <p:ext uri="{BB962C8B-B14F-4D97-AF65-F5344CB8AC3E}">
        <p14:creationId xmlns:p14="http://schemas.microsoft.com/office/powerpoint/2010/main" val="172769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a RDBMS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28338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important to not leave connections and cursors open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functions should close them at the end!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400" y="450876"/>
            <a:ext cx="4638123" cy="24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/>
        </p:nvSpPr>
        <p:spPr>
          <a:xfrm>
            <a:off x="4572000" y="4175250"/>
            <a:ext cx="1294200" cy="6234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Your computer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 rot="10800000" flipH="1">
            <a:off x="4838100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" name="Google Shape;174;p23"/>
          <p:cNvSpPr txBox="1"/>
          <p:nvPr/>
        </p:nvSpPr>
        <p:spPr>
          <a:xfrm>
            <a:off x="4343400" y="3183375"/>
            <a:ext cx="1294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connection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620500" y="25775"/>
            <a:ext cx="42117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RDB on AWS/local/server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7056375" y="2881125"/>
            <a:ext cx="1483200" cy="12924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77" name="Google Shape;177;p23"/>
          <p:cNvCxnSpPr/>
          <p:nvPr/>
        </p:nvCxnSpPr>
        <p:spPr>
          <a:xfrm rot="10800000" flipH="1">
            <a:off x="5160525" y="2882850"/>
            <a:ext cx="1341300" cy="12924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78" name="Google Shape;178;p23"/>
          <p:cNvCxnSpPr>
            <a:stCxn id="171" idx="2"/>
          </p:cNvCxnSpPr>
          <p:nvPr/>
        </p:nvCxnSpPr>
        <p:spPr>
          <a:xfrm>
            <a:off x="6560462" y="2882900"/>
            <a:ext cx="495900" cy="557100"/>
          </a:xfrm>
          <a:prstGeom prst="straightConnector1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9" name="Google Shape;179;p23"/>
          <p:cNvSpPr txBox="1"/>
          <p:nvPr/>
        </p:nvSpPr>
        <p:spPr>
          <a:xfrm>
            <a:off x="5866200" y="3476225"/>
            <a:ext cx="11145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cursor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3436250" y="2882850"/>
            <a:ext cx="6580200" cy="12924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Syntax</a:t>
            </a:r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getting your connection and cursor you can write a query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Query is the statement of actions that you want to perform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SELECT, FROM, WHERE, GROUPBY...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SELECT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DISTINCT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AGGREGATIONS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FROM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WHERE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GROUP BY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HAVING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ORDER BY</a:t>
            </a:r>
            <a:endParaRPr sz="21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245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2" name="Google Shape;192;p25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SELECT</a:t>
            </a:r>
            <a:endParaRPr sz="2100" i="0" u="none" strike="noStrike" cap="none" dirty="0">
              <a:solidFill>
                <a:srgbClr val="000000"/>
              </a:solidFill>
              <a:highlight>
                <a:srgbClr val="C0C0C0"/>
              </a:highlight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DISTINCT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AGGREGATIONS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FROM</a:t>
            </a:r>
            <a:endParaRPr sz="2100" i="0" u="none" strike="noStrike" cap="none" dirty="0">
              <a:solidFill>
                <a:srgbClr val="000000"/>
              </a:solidFill>
              <a:highlight>
                <a:srgbClr val="C0C0C0"/>
              </a:highlight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  <a:highlight>
                  <a:srgbClr val="C0C0C0"/>
                </a:highlight>
              </a:rPr>
              <a:t>WHERE</a:t>
            </a:r>
            <a:endParaRPr sz="2100" i="0" u="none" strike="noStrike" cap="none" dirty="0">
              <a:solidFill>
                <a:srgbClr val="000000"/>
              </a:solidFill>
              <a:highlight>
                <a:srgbClr val="C0C0C0"/>
              </a:highlight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GROUP BY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HAVING</a:t>
            </a:r>
            <a:endParaRPr sz="2100" i="0" u="none" strike="noStrike" cap="none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 dirty="0">
                <a:solidFill>
                  <a:srgbClr val="000000"/>
                </a:solidFill>
              </a:rPr>
              <a:t>ORDER BY</a:t>
            </a:r>
            <a:endParaRPr sz="2100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60C335-2A1F-4E6D-AA04-DD9BF77F5CD4}"/>
              </a:ext>
            </a:extLst>
          </p:cNvPr>
          <p:cNvSpPr txBox="1"/>
          <p:nvPr/>
        </p:nvSpPr>
        <p:spPr>
          <a:xfrm>
            <a:off x="3666407" y="979452"/>
            <a:ext cx="23385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i="0" u="none" strike="noStrike" cap="none" dirty="0">
                <a:solidFill>
                  <a:srgbClr val="000000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Oswald"/>
                <a:sym typeface="Oswald"/>
              </a:rPr>
              <a:t>Starting with the basics</a:t>
            </a:r>
            <a:endParaRPr lang="en-US" sz="18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SELECT - Select the columns you want from a table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Call columns by names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Or call all using *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00" name="Google Shape;200;p26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SELECT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DISTINCT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AGGREGATIONS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FROM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WHERE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GROUP BY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HAVING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ORDER BY</a:t>
            </a:r>
            <a:endParaRPr sz="2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03" name="Google Shape;203;p26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SELECT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425725" y="1124890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SELECT - Select the columns you want from a table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Call columns by names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Or call all using *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2" name="Google Shape;212;p27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SELECT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1329325" y="-34750"/>
            <a:ext cx="5004600" cy="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214" name="Google Shape;214;p27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5" name="Google Shape;215;p27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7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2" name="Google Shape;222;p28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FROM - What table do you want the columns from?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Obviously weird to call this second… more on this later.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SELECT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DISTINCT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AGGREGATIONS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FROM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WHERE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GROUP BY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HAVING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ORDER BY</a:t>
            </a:r>
            <a:endParaRPr sz="2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6" name="Google Shape;226;p28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FROM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425725" y="2228961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29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3" name="Google Shape;233;p29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9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9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FROM - What table do you want the columns from?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Obviously weird to call this second… more on this later.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4893175" y="3423950"/>
            <a:ext cx="42507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9" name="Google Shape;239;p29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FROM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5" name="Google Shape;245;p30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WHERE - allows you to filter rows by condition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Comparison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= &gt; &lt; &lt;&gt;(not)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46" name="Google Shape;246;p30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SELECT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DISTINCT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AGGREGATIONS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FROM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WHERE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GROUP BY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HAVING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ORDER BY</a:t>
            </a:r>
            <a:endParaRPr sz="2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4438918" y="3423950"/>
            <a:ext cx="4291257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artist_id = ‘x88928’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425725" y="2588922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WHERE - allows you to filter rows by condition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Comparison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= &gt; &lt; &lt;&gt;(not)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1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59" name="Google Shape;259;p31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0" name="Google Shape;260;p31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5141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1200875" y="1242425"/>
            <a:ext cx="9423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48;p30">
            <a:extLst>
              <a:ext uri="{FF2B5EF4-FFF2-40B4-BE49-F238E27FC236}">
                <a16:creationId xmlns:a16="http://schemas.microsoft.com/office/drawing/2014/main" id="{9AE4BF59-6DBD-4BEA-BB43-20FCEBC8B56B}"/>
              </a:ext>
            </a:extLst>
          </p:cNvPr>
          <p:cNvSpPr txBox="1"/>
          <p:nvPr/>
        </p:nvSpPr>
        <p:spPr>
          <a:xfrm>
            <a:off x="4438918" y="3423950"/>
            <a:ext cx="4291257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artist_id = ‘x88928’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48;p30">
            <a:extLst>
              <a:ext uri="{FF2B5EF4-FFF2-40B4-BE49-F238E27FC236}">
                <a16:creationId xmlns:a16="http://schemas.microsoft.com/office/drawing/2014/main" id="{47C995C8-26D5-41FF-A6C0-3133D7C2BB0F}"/>
              </a:ext>
            </a:extLst>
          </p:cNvPr>
          <p:cNvSpPr txBox="1"/>
          <p:nvPr/>
        </p:nvSpPr>
        <p:spPr>
          <a:xfrm>
            <a:off x="4438918" y="3423950"/>
            <a:ext cx="4291257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song_name, artist_id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</a:t>
            </a:r>
            <a:r>
              <a:rPr lang="en-US" sz="1500" dirty="0">
                <a:latin typeface="Source Code Pro"/>
                <a:ea typeface="Source Code Pro"/>
                <a:cs typeface="Source Code Pro"/>
                <a:sym typeface="Source Code Pro"/>
              </a:rPr>
              <a:t>tempo &lt; 100</a:t>
            </a:r>
          </a:p>
        </p:txBody>
      </p:sp>
      <p:sp>
        <p:nvSpPr>
          <p:cNvPr id="270" name="Google Shape;270;p32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 dirty="0">
                <a:solidFill>
                  <a:srgbClr val="000000"/>
                </a:solidFill>
              </a:rPr>
              <a:t>WHERE - allows you to filter rows by condition</a:t>
            </a:r>
            <a:endParaRPr sz="2100" dirty="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 dirty="0">
                <a:solidFill>
                  <a:srgbClr val="000000"/>
                </a:solidFill>
              </a:rPr>
              <a:t>Comparison</a:t>
            </a:r>
            <a:endParaRPr sz="2100" dirty="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 dirty="0">
                <a:solidFill>
                  <a:srgbClr val="000000"/>
                </a:solidFill>
              </a:rPr>
              <a:t>= &gt; &lt; &lt;&gt;(not)</a:t>
            </a:r>
            <a:endParaRPr sz="2100" dirty="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00000"/>
              </a:solidFill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2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74" name="Google Shape;274;p32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5" name="Google Shape;275;p32"/>
          <p:cNvSpPr/>
          <p:nvPr/>
        </p:nvSpPr>
        <p:spPr>
          <a:xfrm>
            <a:off x="1200875" y="983600"/>
            <a:ext cx="942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2"/>
          <p:cNvSpPr/>
          <p:nvPr/>
        </p:nvSpPr>
        <p:spPr>
          <a:xfrm>
            <a:off x="514100" y="983600"/>
            <a:ext cx="6867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2143250" y="2021200"/>
            <a:ext cx="5640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2"/>
          <p:cNvSpPr/>
          <p:nvPr/>
        </p:nvSpPr>
        <p:spPr>
          <a:xfrm>
            <a:off x="514100" y="2021200"/>
            <a:ext cx="16293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WHERE - allows you to filter rows by condition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Comparison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= &gt; &lt; &lt;&gt;(not)</a:t>
            </a:r>
            <a:endParaRPr sz="2100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Logical</a:t>
            </a:r>
            <a:endParaRPr sz="2100">
              <a:solidFill>
                <a:srgbClr val="000000"/>
              </a:solidFill>
            </a:endParaRPr>
          </a:p>
          <a:p>
            <a:pPr marL="914400" marR="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○"/>
            </a:pPr>
            <a:r>
              <a:rPr lang="en" sz="2100">
                <a:solidFill>
                  <a:srgbClr val="000000"/>
                </a:solidFill>
              </a:rPr>
              <a:t>IN LIKE NOT...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4443211" y="3423950"/>
            <a:ext cx="4286963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SELECT loudness, tempo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latin typeface="Source Code Pro"/>
                <a:ea typeface="Source Code Pro"/>
                <a:cs typeface="Source Code Pro"/>
                <a:sym typeface="Source Code Pro"/>
              </a:rPr>
              <a:t>	WHERE artist_id LIKE ‘x8%’</a:t>
            </a:r>
            <a:endParaRPr sz="15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WHERE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aphicFrame>
        <p:nvGraphicFramePr>
          <p:cNvPr id="288" name="Google Shape;288;p33"/>
          <p:cNvGraphicFramePr/>
          <p:nvPr/>
        </p:nvGraphicFramePr>
        <p:xfrm>
          <a:off x="514100" y="724200"/>
          <a:ext cx="3610050" cy="2075200"/>
        </p:xfrm>
        <a:graphic>
          <a:graphicData uri="http://schemas.openxmlformats.org/drawingml/2006/table">
            <a:tbl>
              <a:tblPr>
                <a:noFill/>
                <a:tableStyleId>{D379A4BE-A3DD-4B19-9A34-DD28EAF4F731}</a:tableStyleId>
              </a:tblPr>
              <a:tblGrid>
                <a:gridCol w="68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400">
                <a:tc grid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Table: top_track_features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artist_id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song_name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tempo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loudness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energy</a:t>
                      </a:r>
                      <a:endParaRPr sz="1000" b="1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diabolic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8.4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invader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x88928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riot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133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0.00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00"/>
                          </a:solidFill>
                        </a:rPr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summer wind</a:t>
                      </a:r>
                      <a:endParaRPr sz="1000"/>
                    </a:p>
                  </a:txBody>
                  <a:tcPr marL="91425" marR="91425" marT="45700" marB="457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0.22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witchcraft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2.2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0.15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z99029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angel eyes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70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4.8</a:t>
                      </a:r>
                      <a:endParaRPr sz="100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/>
                        <a:t>0.05</a:t>
                      </a:r>
                      <a:endParaRPr sz="1000" dirty="0"/>
                    </a:p>
                  </a:txBody>
                  <a:tcPr marL="91425" marR="91425" marT="45700" marB="45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9" name="Google Shape;289;p33"/>
          <p:cNvSpPr/>
          <p:nvPr/>
        </p:nvSpPr>
        <p:spPr>
          <a:xfrm>
            <a:off x="2707225" y="983600"/>
            <a:ext cx="7839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3"/>
          <p:cNvSpPr/>
          <p:nvPr/>
        </p:nvSpPr>
        <p:spPr>
          <a:xfrm>
            <a:off x="2142975" y="983600"/>
            <a:ext cx="564300" cy="18159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514100" y="724200"/>
            <a:ext cx="3609900" cy="2595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3"/>
          <p:cNvSpPr/>
          <p:nvPr/>
        </p:nvSpPr>
        <p:spPr>
          <a:xfrm>
            <a:off x="512600" y="1242425"/>
            <a:ext cx="686700" cy="7788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3"/>
          <p:cNvSpPr/>
          <p:nvPr/>
        </p:nvSpPr>
        <p:spPr>
          <a:xfrm>
            <a:off x="2142975" y="1242425"/>
            <a:ext cx="1348200" cy="778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4"/>
          <p:cNvSpPr txBox="1">
            <a:spLocks noGrp="1"/>
          </p:cNvSpPr>
          <p:nvPr>
            <p:ph type="subTitle" idx="1"/>
          </p:nvPr>
        </p:nvSpPr>
        <p:spPr>
          <a:xfrm>
            <a:off x="2910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Syntactical Order of Operations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9" name="Google Shape;299;p34"/>
          <p:cNvSpPr txBox="1">
            <a:spLocks noGrp="1"/>
          </p:cNvSpPr>
          <p:nvPr>
            <p:ph type="body" idx="2"/>
          </p:nvPr>
        </p:nvSpPr>
        <p:spPr>
          <a:xfrm>
            <a:off x="48909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●"/>
            </a:pPr>
            <a:r>
              <a:rPr lang="en" sz="2100">
                <a:solidFill>
                  <a:srgbClr val="000000"/>
                </a:solidFill>
              </a:rPr>
              <a:t>GROUP BY - Allows you to apply aggregation functions to columns for each grouping level</a:t>
            </a:r>
            <a:endParaRPr sz="21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</a:endParaRPr>
          </a:p>
        </p:txBody>
      </p:sp>
      <p:sp>
        <p:nvSpPr>
          <p:cNvPr id="300" name="Google Shape;300;p34"/>
          <p:cNvSpPr txBox="1">
            <a:spLocks noGrp="1"/>
          </p:cNvSpPr>
          <p:nvPr>
            <p:ph type="body" idx="2"/>
          </p:nvPr>
        </p:nvSpPr>
        <p:spPr>
          <a:xfrm>
            <a:off x="4713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SELECT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DISTINCT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AGGREGATIONS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FROM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WHERE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GROUP BY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HAVING</a:t>
            </a:r>
            <a:endParaRPr sz="2100" i="0" u="none" strike="noStrike" cap="none">
              <a:solidFill>
                <a:srgbClr val="000000"/>
              </a:solidFill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AutoNum type="arabicPeriod"/>
            </a:pPr>
            <a:r>
              <a:rPr lang="en" sz="2100" i="0" u="none" strike="noStrike" cap="none">
                <a:solidFill>
                  <a:srgbClr val="000000"/>
                </a:solidFill>
              </a:rPr>
              <a:t>ORDER BY</a:t>
            </a:r>
            <a:endParaRPr sz="2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4959300" y="4364175"/>
            <a:ext cx="925800" cy="302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4"/>
          <p:cNvSpPr txBox="1"/>
          <p:nvPr/>
        </p:nvSpPr>
        <p:spPr>
          <a:xfrm>
            <a:off x="4893175" y="3423950"/>
            <a:ext cx="38370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SELECT AVG(tempo) 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FROM top_track_features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Source Code Pro"/>
                <a:ea typeface="Source Code Pro"/>
                <a:cs typeface="Source Code Pro"/>
                <a:sym typeface="Source Code Pro"/>
              </a:rPr>
              <a:t>	GROUP BY artist_id</a:t>
            </a:r>
            <a:endParaRPr sz="15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3" name="Google Shape;303;p34"/>
          <p:cNvSpPr txBox="1">
            <a:spLocks noGrp="1"/>
          </p:cNvSpPr>
          <p:nvPr>
            <p:ph type="subTitle" idx="1"/>
          </p:nvPr>
        </p:nvSpPr>
        <p:spPr>
          <a:xfrm>
            <a:off x="4786800" y="182625"/>
            <a:ext cx="40452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r>
              <a:rPr lang="en" sz="21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GROUP BY</a:t>
            </a: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Source Sans Pro"/>
              <a:buNone/>
            </a:pPr>
            <a:endParaRPr sz="2100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425725" y="2967000"/>
            <a:ext cx="2832300" cy="3024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Office PowerPoint</Application>
  <PresentationFormat>On-screen Show (16:9)</PresentationFormat>
  <Paragraphs>521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Oswald</vt:lpstr>
      <vt:lpstr>Source Code Pro</vt:lpstr>
      <vt:lpstr>Source Sans Pro</vt:lpstr>
      <vt:lpstr>Arial</vt:lpstr>
      <vt:lpstr>Modern Writer</vt:lpstr>
      <vt:lpstr>Intro to RDBMS and SQL</vt:lpstr>
      <vt:lpstr>RDBMS</vt:lpstr>
      <vt:lpstr>PowerPoint Presentation</vt:lpstr>
      <vt:lpstr>PowerPoint Presentation</vt:lpstr>
      <vt:lpstr>RDBMS &amp; SQL</vt:lpstr>
      <vt:lpstr>SQL Syntax - But first</vt:lpstr>
      <vt:lpstr>Working with a RDBMS Connect to RDBMS</vt:lpstr>
      <vt:lpstr>Working with a RDBMS Create cursor</vt:lpstr>
      <vt:lpstr>Working with a RDBMS Fetch data using cursor</vt:lpstr>
      <vt:lpstr>Working with a RDBMS Fetch data using cursor</vt:lpstr>
      <vt:lpstr>Working with a RDBMS</vt:lpstr>
      <vt:lpstr>SQL Syntax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2021-09-20T18:45:56Z</dcterms:modified>
</cp:coreProperties>
</file>