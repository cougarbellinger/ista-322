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62" r:id="rId3"/>
    <p:sldId id="263" r:id="rId4"/>
    <p:sldId id="291" r:id="rId5"/>
    <p:sldId id="292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94" r:id="rId16"/>
    <p:sldId id="277" r:id="rId17"/>
    <p:sldId id="278" r:id="rId18"/>
    <p:sldId id="279" r:id="rId19"/>
    <p:sldId id="280" r:id="rId20"/>
    <p:sldId id="295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</p:sldIdLst>
  <p:sldSz cx="9144000" cy="5143500" type="screen16x9"/>
  <p:notesSz cx="6858000" cy="9144000"/>
  <p:embeddedFontLst>
    <p:embeddedFont>
      <p:font typeface="Oswald" panose="00000500000000000000" pitchFamily="2" charset="0"/>
      <p:regular r:id="rId32"/>
      <p:bold r:id="rId33"/>
    </p:embeddedFont>
    <p:embeddedFont>
      <p:font typeface="Source Code Pro" panose="020B0509030403020204" pitchFamily="49" charset="0"/>
      <p:regular r:id="rId34"/>
      <p:bold r:id="rId35"/>
      <p:italic r:id="rId36"/>
      <p:boldItalic r:id="rId37"/>
    </p:embeddedFont>
    <p:embeddedFont>
      <p:font typeface="Source Sans Pro" panose="020B0503030403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79A4BE-A3DD-4B19-9A34-DD28EAF4F731}">
  <a:tblStyle styleId="{D379A4BE-A3DD-4B19-9A34-DD28EAF4F7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2" autoAdjust="0"/>
    <p:restoredTop sz="74707" autoAdjust="0"/>
  </p:normalViewPr>
  <p:slideViewPr>
    <p:cSldViewPr snapToGrid="0">
      <p:cViewPr varScale="1">
        <p:scale>
          <a:sx n="111" d="100"/>
          <a:sy n="111" d="100"/>
        </p:scale>
        <p:origin x="1752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9d0188835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9d0188835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315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1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9d0188835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9d0188835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9d0188835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9d0188835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9d018883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99d018883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c773f32e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9c773f32e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9d0188835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99d0188835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9d0188835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99d0188835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9d0188835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99d0188835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9d0188835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99d0188835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c773f32e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9c773f32e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9d018883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99d018883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860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9d0188835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99d0188835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99d0188835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99d0188835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de4e65f8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9de4e65f8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de4e65f8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de4e65f8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de4e65f8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de4e65f8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981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9de4e65f8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9de4e65f8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9de4e65f8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9de4e65f8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9de4e65f8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9de4e65f8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de4e65f89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de4e65f89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9de4e65f8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9de4e65f8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9de4e65f8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9de4e65f8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9de4e65f8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9de4e65f8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9de4e65f89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9de4e65f89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99d0188835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g99d0188835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RDBMS and SQL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ISTA 322 - Data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Connect to RDBMS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connect need credentials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Host (location)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Username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Password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DB Manger controls acces, etc.</a:t>
            </a:r>
            <a:endParaRPr dirty="0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19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Create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Fetch data using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object executes query</a:t>
            </a:r>
          </a:p>
        </p:txBody>
      </p:sp>
    </p:spTree>
    <p:extLst>
      <p:ext uri="{BB962C8B-B14F-4D97-AF65-F5344CB8AC3E}">
        <p14:creationId xmlns:p14="http://schemas.microsoft.com/office/powerpoint/2010/main" val="280247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Fetch data using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object executes query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used to fetch results which are then displayed or stored locally</a:t>
            </a:r>
          </a:p>
        </p:txBody>
      </p:sp>
    </p:spTree>
    <p:extLst>
      <p:ext uri="{BB962C8B-B14F-4D97-AF65-F5344CB8AC3E}">
        <p14:creationId xmlns:p14="http://schemas.microsoft.com/office/powerpoint/2010/main" val="1727698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a RDBMS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28338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important to not leave connections and cursors open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functions should close them at the end!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" name="Google Shape;174;p23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77" name="Google Shape;177;p23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78" name="Google Shape;178;p23"/>
          <p:cNvCxnSpPr>
            <a:stCxn id="171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9" name="Google Shape;179;p23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3436250" y="2882850"/>
            <a:ext cx="6580200" cy="12924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Syntax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getting your connection and cursor you can write a query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Query is the statement of actions that you want to perform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SELECT, FROM, WHERE, GROUPBY...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193" name="Google Shape;193;p25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0C335-2A1F-4E6D-AA04-DD9BF77F5CD4}"/>
              </a:ext>
            </a:extLst>
          </p:cNvPr>
          <p:cNvSpPr txBox="1"/>
          <p:nvPr/>
        </p:nvSpPr>
        <p:spPr>
          <a:xfrm>
            <a:off x="3666407" y="979452"/>
            <a:ext cx="2338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i="0" u="none" strike="noStrike" cap="none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Oswald"/>
                <a:sym typeface="Oswald"/>
              </a:rPr>
              <a:t>Starting with the basics</a:t>
            </a:r>
            <a:endParaRPr lang="en-US" sz="18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SELECT - Select the columns you want from a table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Call columns by names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Or call all using *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201" name="Google Shape;201;p26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SELECT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425725" y="935998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SELECT - Select the columns you want from a table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Call columns by names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Or call all using *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2" name="Google Shape;212;p27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SELECT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329325" y="-34750"/>
            <a:ext cx="50046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214" name="Google Shape;214;p27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5" name="Google Shape;215;p27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FROM - What table do you want the columns from?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Obviously weird to call this second… more on this later.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224" name="Google Shape;224;p28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FROM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425725" y="2061534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29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3" name="Google Shape;233;p29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FROM - What table do you want the columns from?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Obviously weird to call this second… more on this later.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4893175" y="3423950"/>
            <a:ext cx="42507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9" name="Google Shape;239;p29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FROM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5" name="Google Shape;245;p30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WHERE - allows you to filter rows by condition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Comparison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= &gt; &lt; &lt;&gt;(not)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247" name="Google Shape;247;p30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4438918" y="3423950"/>
            <a:ext cx="4291257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artist_id = ‘x88928’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425725" y="2777814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WHERE - allows you to filter rows by condition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Comparison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= &gt; &lt; &lt;&gt;(not)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59" name="Google Shape;259;p31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0" name="Google Shape;260;p31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5141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1200875" y="1242425"/>
            <a:ext cx="9423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8;p30">
            <a:extLst>
              <a:ext uri="{FF2B5EF4-FFF2-40B4-BE49-F238E27FC236}">
                <a16:creationId xmlns:a16="http://schemas.microsoft.com/office/drawing/2014/main" id="{9AE4BF59-6DBD-4BEA-BB43-20FCEBC8B56B}"/>
              </a:ext>
            </a:extLst>
          </p:cNvPr>
          <p:cNvSpPr txBox="1"/>
          <p:nvPr/>
        </p:nvSpPr>
        <p:spPr>
          <a:xfrm>
            <a:off x="4438918" y="3423950"/>
            <a:ext cx="4291257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artist_id = ‘x88928’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  <a:highlight>
                  <a:srgbClr val="C0C0C0"/>
                </a:highlight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ORDER BY</a:t>
            </a:r>
          </a:p>
        </p:txBody>
      </p:sp>
      <p:sp>
        <p:nvSpPr>
          <p:cNvPr id="193" name="Google Shape;193;p25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0C335-2A1F-4E6D-AA04-DD9BF77F5CD4}"/>
              </a:ext>
            </a:extLst>
          </p:cNvPr>
          <p:cNvSpPr txBox="1"/>
          <p:nvPr/>
        </p:nvSpPr>
        <p:spPr>
          <a:xfrm>
            <a:off x="3666407" y="979452"/>
            <a:ext cx="2661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Oswald"/>
                <a:sym typeface="Oswald"/>
              </a:rPr>
              <a:t>Slightly more advanced functions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5812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9" name="Google Shape;299;p34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GROUP BY - Allows you to apply aggregation functions to columns for each grouping level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300" name="Google Shape;300;p34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301" name="Google Shape;301;p34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4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3" name="Google Shape;303;p34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GROUP BY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425725" y="3151599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0" name="Google Shape;310;p35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GROUP BY 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Aggregation functions applied to columns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MIN, MAX, AVG, COUNT, SUM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311" name="Google Shape;311;p35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312" name="Google Shape;312;p35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5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GROUP BY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425725" y="3155892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5"/>
          <p:cNvSpPr/>
          <p:nvPr/>
        </p:nvSpPr>
        <p:spPr>
          <a:xfrm>
            <a:off x="425725" y="1689191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" name="Google Shape;328;p36"/>
          <p:cNvGraphicFramePr/>
          <p:nvPr>
            <p:extLst>
              <p:ext uri="{D42A27DB-BD31-4B8C-83A1-F6EECF244321}">
                <p14:modId xmlns:p14="http://schemas.microsoft.com/office/powerpoint/2010/main" val="531535759"/>
              </p:ext>
            </p:extLst>
          </p:nvPr>
        </p:nvGraphicFramePr>
        <p:xfrm>
          <a:off x="4984600" y="1242950"/>
          <a:ext cx="2311550" cy="10376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796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RETURN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AVG(tempo)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(135+122+133)/3 = </a:t>
                      </a:r>
                      <a:r>
                        <a:rPr lang="en" sz="1000" b="1" dirty="0"/>
                        <a:t>130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(95+68+70)/3 = </a:t>
                      </a:r>
                      <a:r>
                        <a:rPr lang="en" sz="1000" b="1" dirty="0"/>
                        <a:t>78.6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1" name="Google Shape;321;p36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2" name="Google Shape;322;p36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6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6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29;p36">
            <a:extLst>
              <a:ext uri="{FF2B5EF4-FFF2-40B4-BE49-F238E27FC236}">
                <a16:creationId xmlns:a16="http://schemas.microsoft.com/office/drawing/2014/main" id="{79897803-AB39-48FC-9B65-B385501595DD}"/>
              </a:ext>
            </a:extLst>
          </p:cNvPr>
          <p:cNvSpPr/>
          <p:nvPr/>
        </p:nvSpPr>
        <p:spPr>
          <a:xfrm>
            <a:off x="5768932" y="17617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30;p36">
            <a:extLst>
              <a:ext uri="{FF2B5EF4-FFF2-40B4-BE49-F238E27FC236}">
                <a16:creationId xmlns:a16="http://schemas.microsoft.com/office/drawing/2014/main" id="{57D9F412-D167-4EF3-A53B-C46679C32941}"/>
              </a:ext>
            </a:extLst>
          </p:cNvPr>
          <p:cNvSpPr/>
          <p:nvPr/>
        </p:nvSpPr>
        <p:spPr>
          <a:xfrm>
            <a:off x="5768932" y="20211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31;p36">
            <a:extLst>
              <a:ext uri="{FF2B5EF4-FFF2-40B4-BE49-F238E27FC236}">
                <a16:creationId xmlns:a16="http://schemas.microsoft.com/office/drawing/2014/main" id="{EF3E5E55-B2B8-4A36-B7DF-E6B51C0BB2A7}"/>
              </a:ext>
            </a:extLst>
          </p:cNvPr>
          <p:cNvSpPr/>
          <p:nvPr/>
        </p:nvSpPr>
        <p:spPr>
          <a:xfrm>
            <a:off x="4984599" y="1761425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32;p36">
            <a:extLst>
              <a:ext uri="{FF2B5EF4-FFF2-40B4-BE49-F238E27FC236}">
                <a16:creationId xmlns:a16="http://schemas.microsoft.com/office/drawing/2014/main" id="{4B9DED83-0D2C-458F-9F03-EE9B54D68AF5}"/>
              </a:ext>
            </a:extLst>
          </p:cNvPr>
          <p:cNvSpPr/>
          <p:nvPr/>
        </p:nvSpPr>
        <p:spPr>
          <a:xfrm>
            <a:off x="4984599" y="2021150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328;p36">
            <a:extLst>
              <a:ext uri="{FF2B5EF4-FFF2-40B4-BE49-F238E27FC236}">
                <a16:creationId xmlns:a16="http://schemas.microsoft.com/office/drawing/2014/main" id="{07021B96-8AA3-4FD4-8314-3CCEF87DF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902545"/>
              </p:ext>
            </p:extLst>
          </p:nvPr>
        </p:nvGraphicFramePr>
        <p:xfrm>
          <a:off x="4984600" y="1242950"/>
          <a:ext cx="2311550" cy="10376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796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artist_id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AVG(tempo)</a:t>
                      </a:r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x88928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(135+122+133)/3 = </a:t>
                      </a:r>
                      <a:r>
                        <a:rPr lang="en" sz="1000" b="1" dirty="0"/>
                        <a:t>130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(95+68+70)/3 = </a:t>
                      </a:r>
                      <a:r>
                        <a:rPr lang="en" sz="1000" b="1" dirty="0"/>
                        <a:t>78.6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Google Shape;329;p36">
            <a:extLst>
              <a:ext uri="{FF2B5EF4-FFF2-40B4-BE49-F238E27FC236}">
                <a16:creationId xmlns:a16="http://schemas.microsoft.com/office/drawing/2014/main" id="{D5B1EF17-16DE-46A1-B499-EFF8454B9B02}"/>
              </a:ext>
            </a:extLst>
          </p:cNvPr>
          <p:cNvSpPr/>
          <p:nvPr/>
        </p:nvSpPr>
        <p:spPr>
          <a:xfrm>
            <a:off x="5768932" y="17617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0;p36">
            <a:extLst>
              <a:ext uri="{FF2B5EF4-FFF2-40B4-BE49-F238E27FC236}">
                <a16:creationId xmlns:a16="http://schemas.microsoft.com/office/drawing/2014/main" id="{C7AEDA57-C080-42BE-A4AE-599F68EF9D86}"/>
              </a:ext>
            </a:extLst>
          </p:cNvPr>
          <p:cNvSpPr/>
          <p:nvPr/>
        </p:nvSpPr>
        <p:spPr>
          <a:xfrm>
            <a:off x="5768932" y="20211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1;p36">
            <a:extLst>
              <a:ext uri="{FF2B5EF4-FFF2-40B4-BE49-F238E27FC236}">
                <a16:creationId xmlns:a16="http://schemas.microsoft.com/office/drawing/2014/main" id="{F0D8E8D3-8C31-4CB1-9D13-28B55ED6A2CB}"/>
              </a:ext>
            </a:extLst>
          </p:cNvPr>
          <p:cNvSpPr/>
          <p:nvPr/>
        </p:nvSpPr>
        <p:spPr>
          <a:xfrm>
            <a:off x="4984599" y="1761425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2;p36">
            <a:extLst>
              <a:ext uri="{FF2B5EF4-FFF2-40B4-BE49-F238E27FC236}">
                <a16:creationId xmlns:a16="http://schemas.microsoft.com/office/drawing/2014/main" id="{3B2B8ED3-DB98-4970-93C5-E8C3D9306CC8}"/>
              </a:ext>
            </a:extLst>
          </p:cNvPr>
          <p:cNvSpPr/>
          <p:nvPr/>
        </p:nvSpPr>
        <p:spPr>
          <a:xfrm>
            <a:off x="4984599" y="2021150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37" name="Google Shape;337;p37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8" name="Google Shape;338;p37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7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7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AVG(tempo)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2" name="Google Shape;342;p37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7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5768934" y="1502100"/>
            <a:ext cx="1527215" cy="259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7"/>
          <p:cNvSpPr txBox="1"/>
          <p:nvPr/>
        </p:nvSpPr>
        <p:spPr>
          <a:xfrm>
            <a:off x="506625" y="3020300"/>
            <a:ext cx="39417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 good time to talk about aliasing!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Allows you to rename column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Put ‘as new_name’ right after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Later operations will use aliased name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328;p36">
            <a:extLst>
              <a:ext uri="{FF2B5EF4-FFF2-40B4-BE49-F238E27FC236}">
                <a16:creationId xmlns:a16="http://schemas.microsoft.com/office/drawing/2014/main" id="{07021B96-8AA3-4FD4-8314-3CCEF87DF50C}"/>
              </a:ext>
            </a:extLst>
          </p:cNvPr>
          <p:cNvGraphicFramePr/>
          <p:nvPr/>
        </p:nvGraphicFramePr>
        <p:xfrm>
          <a:off x="4984600" y="1242950"/>
          <a:ext cx="2311550" cy="10376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796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artist_id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a</a:t>
                      </a:r>
                      <a:r>
                        <a:rPr lang="en" sz="1000" b="1" dirty="0"/>
                        <a:t>vg_tempo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x88928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(135+122+133)/3 = </a:t>
                      </a:r>
                      <a:r>
                        <a:rPr lang="en" sz="1000" b="1" dirty="0"/>
                        <a:t>130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(95+68+70)/3 = </a:t>
                      </a:r>
                      <a:r>
                        <a:rPr lang="en" sz="1000" b="1" dirty="0"/>
                        <a:t>78.6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Google Shape;329;p36">
            <a:extLst>
              <a:ext uri="{FF2B5EF4-FFF2-40B4-BE49-F238E27FC236}">
                <a16:creationId xmlns:a16="http://schemas.microsoft.com/office/drawing/2014/main" id="{D5B1EF17-16DE-46A1-B499-EFF8454B9B02}"/>
              </a:ext>
            </a:extLst>
          </p:cNvPr>
          <p:cNvSpPr/>
          <p:nvPr/>
        </p:nvSpPr>
        <p:spPr>
          <a:xfrm>
            <a:off x="5768932" y="17617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0;p36">
            <a:extLst>
              <a:ext uri="{FF2B5EF4-FFF2-40B4-BE49-F238E27FC236}">
                <a16:creationId xmlns:a16="http://schemas.microsoft.com/office/drawing/2014/main" id="{C7AEDA57-C080-42BE-A4AE-599F68EF9D86}"/>
              </a:ext>
            </a:extLst>
          </p:cNvPr>
          <p:cNvSpPr/>
          <p:nvPr/>
        </p:nvSpPr>
        <p:spPr>
          <a:xfrm>
            <a:off x="5768932" y="20211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31;p36">
            <a:extLst>
              <a:ext uri="{FF2B5EF4-FFF2-40B4-BE49-F238E27FC236}">
                <a16:creationId xmlns:a16="http://schemas.microsoft.com/office/drawing/2014/main" id="{F0D8E8D3-8C31-4CB1-9D13-28B55ED6A2CB}"/>
              </a:ext>
            </a:extLst>
          </p:cNvPr>
          <p:cNvSpPr/>
          <p:nvPr/>
        </p:nvSpPr>
        <p:spPr>
          <a:xfrm>
            <a:off x="4984599" y="1761425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2;p36">
            <a:extLst>
              <a:ext uri="{FF2B5EF4-FFF2-40B4-BE49-F238E27FC236}">
                <a16:creationId xmlns:a16="http://schemas.microsoft.com/office/drawing/2014/main" id="{3B2B8ED3-DB98-4970-93C5-E8C3D9306CC8}"/>
              </a:ext>
            </a:extLst>
          </p:cNvPr>
          <p:cNvSpPr/>
          <p:nvPr/>
        </p:nvSpPr>
        <p:spPr>
          <a:xfrm>
            <a:off x="4984599" y="2021150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37" name="Google Shape;337;p37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8" name="Google Shape;338;p37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7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7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as avg_tempo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2" name="Google Shape;342;p37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7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5768934" y="1502100"/>
            <a:ext cx="1527215" cy="259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7"/>
          <p:cNvSpPr txBox="1"/>
          <p:nvPr/>
        </p:nvSpPr>
        <p:spPr>
          <a:xfrm>
            <a:off x="506625" y="3020300"/>
            <a:ext cx="39417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 good time to talk about aliasing!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Allows you to rename column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Put ‘as new_name’ right after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Later operations will use aliased name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1" name="Google Shape;351;p37"/>
          <p:cNvSpPr/>
          <p:nvPr/>
        </p:nvSpPr>
        <p:spPr>
          <a:xfrm>
            <a:off x="5713900" y="3505975"/>
            <a:ext cx="2787900" cy="259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959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7" name="Google Shape;357;p38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HAVING allows you to filter your aggregated data 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HAVING AVG(tempo)&gt;100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358" name="Google Shape;358;p38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359" name="Google Shape;359;p38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8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HAVING AVG(tempo) &gt; 100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61" name="Google Shape;361;p38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HAVING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416275" y="3509695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328;p36">
            <a:extLst>
              <a:ext uri="{FF2B5EF4-FFF2-40B4-BE49-F238E27FC236}">
                <a16:creationId xmlns:a16="http://schemas.microsoft.com/office/drawing/2014/main" id="{9DA7B380-418B-4ED5-8DF9-A10FF35FD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799426"/>
              </p:ext>
            </p:extLst>
          </p:nvPr>
        </p:nvGraphicFramePr>
        <p:xfrm>
          <a:off x="4984600" y="1242950"/>
          <a:ext cx="2311550" cy="10376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796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AVG(tempo)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(135+122+133)/3 = </a:t>
                      </a:r>
                      <a:r>
                        <a:rPr lang="en" sz="1000" b="1" dirty="0"/>
                        <a:t>130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(95+68+70)/3 = </a:t>
                      </a:r>
                      <a:r>
                        <a:rPr lang="en" sz="1000" b="1" dirty="0"/>
                        <a:t>78.6</a:t>
                      </a:r>
                      <a:endParaRPr sz="1000" b="1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Google Shape;329;p36">
            <a:extLst>
              <a:ext uri="{FF2B5EF4-FFF2-40B4-BE49-F238E27FC236}">
                <a16:creationId xmlns:a16="http://schemas.microsoft.com/office/drawing/2014/main" id="{AA949875-A1C5-4C4A-990B-FEA045DEDF20}"/>
              </a:ext>
            </a:extLst>
          </p:cNvPr>
          <p:cNvSpPr/>
          <p:nvPr/>
        </p:nvSpPr>
        <p:spPr>
          <a:xfrm>
            <a:off x="5768932" y="17617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30;p36">
            <a:extLst>
              <a:ext uri="{FF2B5EF4-FFF2-40B4-BE49-F238E27FC236}">
                <a16:creationId xmlns:a16="http://schemas.microsoft.com/office/drawing/2014/main" id="{87F02039-87A5-419D-9D66-15A175A6F2EA}"/>
              </a:ext>
            </a:extLst>
          </p:cNvPr>
          <p:cNvSpPr/>
          <p:nvPr/>
        </p:nvSpPr>
        <p:spPr>
          <a:xfrm>
            <a:off x="5768932" y="2021150"/>
            <a:ext cx="1527218" cy="2595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31;p36">
            <a:extLst>
              <a:ext uri="{FF2B5EF4-FFF2-40B4-BE49-F238E27FC236}">
                <a16:creationId xmlns:a16="http://schemas.microsoft.com/office/drawing/2014/main" id="{EEED11E8-096E-4712-B170-5F6BC9AE5A9B}"/>
              </a:ext>
            </a:extLst>
          </p:cNvPr>
          <p:cNvSpPr/>
          <p:nvPr/>
        </p:nvSpPr>
        <p:spPr>
          <a:xfrm>
            <a:off x="4984599" y="1761425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32;p36">
            <a:extLst>
              <a:ext uri="{FF2B5EF4-FFF2-40B4-BE49-F238E27FC236}">
                <a16:creationId xmlns:a16="http://schemas.microsoft.com/office/drawing/2014/main" id="{1CA7F01C-4BC3-4280-9915-4ED7C312ED09}"/>
              </a:ext>
            </a:extLst>
          </p:cNvPr>
          <p:cNvSpPr/>
          <p:nvPr/>
        </p:nvSpPr>
        <p:spPr>
          <a:xfrm>
            <a:off x="4984599" y="2021150"/>
            <a:ext cx="784333" cy="259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49;p37">
            <a:extLst>
              <a:ext uri="{FF2B5EF4-FFF2-40B4-BE49-F238E27FC236}">
                <a16:creationId xmlns:a16="http://schemas.microsoft.com/office/drawing/2014/main" id="{DC89654B-632A-4F0A-B704-B41F205850F0}"/>
              </a:ext>
            </a:extLst>
          </p:cNvPr>
          <p:cNvSpPr/>
          <p:nvPr/>
        </p:nvSpPr>
        <p:spPr>
          <a:xfrm>
            <a:off x="5768934" y="1502100"/>
            <a:ext cx="1527215" cy="259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67" name="Google Shape;367;p39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8" name="Google Shape;368;p39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9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AVG(tempo) as avg_temp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HAVING AVG(tempo) &gt; 100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9"/>
          <p:cNvSpPr/>
          <p:nvPr/>
        </p:nvSpPr>
        <p:spPr>
          <a:xfrm>
            <a:off x="5813437" y="4318350"/>
            <a:ext cx="2787900" cy="259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9"/>
          <p:cNvSpPr txBox="1"/>
          <p:nvPr/>
        </p:nvSpPr>
        <p:spPr>
          <a:xfrm>
            <a:off x="2490050" y="3963450"/>
            <a:ext cx="1634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Must use the aggregating function, not alias!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82" name="Google Shape;382;p39"/>
          <p:cNvCxnSpPr>
            <a:stCxn id="381" idx="3"/>
            <a:endCxn id="380" idx="1"/>
          </p:cNvCxnSpPr>
          <p:nvPr/>
        </p:nvCxnSpPr>
        <p:spPr>
          <a:xfrm>
            <a:off x="4124150" y="4448100"/>
            <a:ext cx="168928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455;p45">
            <a:extLst>
              <a:ext uri="{FF2B5EF4-FFF2-40B4-BE49-F238E27FC236}">
                <a16:creationId xmlns:a16="http://schemas.microsoft.com/office/drawing/2014/main" id="{26D5CEDB-EDF8-40E2-8352-359CCF189683}"/>
              </a:ext>
            </a:extLst>
          </p:cNvPr>
          <p:cNvCxnSpPr>
            <a:cxnSpLocks/>
          </p:cNvCxnSpPr>
          <p:nvPr/>
        </p:nvCxnSpPr>
        <p:spPr>
          <a:xfrm>
            <a:off x="4984600" y="2146143"/>
            <a:ext cx="2264983" cy="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8" name="Google Shape;388;p40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ORDER BY values in a column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Can be ascending or descending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ASC | DESC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389" name="Google Shape;389;p40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SELECT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DISTINCT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AGGREGATIONS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FROM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dirty="0">
                <a:solidFill>
                  <a:srgbClr val="000000"/>
                </a:solidFill>
              </a:rPr>
              <a:t>JOIN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WHERE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GROUP BY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HAVING</a:t>
            </a: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100" i="0" u="none" strike="noStrike" cap="none" dirty="0">
                <a:solidFill>
                  <a:srgbClr val="000000"/>
                </a:solidFill>
              </a:rPr>
              <a:t>ORDER BY</a:t>
            </a:r>
          </a:p>
        </p:txBody>
      </p:sp>
      <p:sp>
        <p:nvSpPr>
          <p:cNvPr id="390" name="Google Shape;390;p40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0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tempo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ORDER BY tempo DESC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2" name="Google Shape;392;p40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ORDER BY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406825" y="3879859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" name="Google Shape;398;p41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9" name="Google Shape;399;p41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1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1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tempo, song_name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ORDER BY tempo DESC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02" name="Google Shape;402;p41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1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04" name="Google Shape;404;p41"/>
          <p:cNvGraphicFramePr/>
          <p:nvPr/>
        </p:nvGraphicFramePr>
        <p:xfrm>
          <a:off x="5021225" y="724200"/>
          <a:ext cx="15063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94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5" name="Google Shape;405;p41"/>
          <p:cNvSpPr/>
          <p:nvPr/>
        </p:nvSpPr>
        <p:spPr>
          <a:xfrm>
            <a:off x="5963325" y="1242425"/>
            <a:ext cx="564300" cy="15576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1"/>
          <p:cNvSpPr/>
          <p:nvPr/>
        </p:nvSpPr>
        <p:spPr>
          <a:xfrm>
            <a:off x="5799786" y="4020400"/>
            <a:ext cx="1755820" cy="302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Google Shape;411;p42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2" name="Google Shape;412;p42"/>
          <p:cNvSpPr/>
          <p:nvPr/>
        </p:nvSpPr>
        <p:spPr>
          <a:xfrm>
            <a:off x="2142975" y="2020700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2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tempo, song_name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ORDER BY tempo ASC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5" name="Google Shape;415;p42"/>
          <p:cNvSpPr/>
          <p:nvPr/>
        </p:nvSpPr>
        <p:spPr>
          <a:xfrm>
            <a:off x="512600" y="2021200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2"/>
          <p:cNvSpPr/>
          <p:nvPr/>
        </p:nvSpPr>
        <p:spPr>
          <a:xfrm>
            <a:off x="2142975" y="1242425"/>
            <a:ext cx="564300" cy="778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17" name="Google Shape;417;p42"/>
          <p:cNvGraphicFramePr/>
          <p:nvPr/>
        </p:nvGraphicFramePr>
        <p:xfrm>
          <a:off x="5021225" y="724200"/>
          <a:ext cx="15063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94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135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8" name="Google Shape;418;p42"/>
          <p:cNvSpPr/>
          <p:nvPr/>
        </p:nvSpPr>
        <p:spPr>
          <a:xfrm>
            <a:off x="5963325" y="1243000"/>
            <a:ext cx="564300" cy="15576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06;p41">
            <a:extLst>
              <a:ext uri="{FF2B5EF4-FFF2-40B4-BE49-F238E27FC236}">
                <a16:creationId xmlns:a16="http://schemas.microsoft.com/office/drawing/2014/main" id="{677A917E-C352-423D-89C0-D6B0868B3107}"/>
              </a:ext>
            </a:extLst>
          </p:cNvPr>
          <p:cNvSpPr/>
          <p:nvPr/>
        </p:nvSpPr>
        <p:spPr>
          <a:xfrm>
            <a:off x="5799786" y="4020400"/>
            <a:ext cx="1755820" cy="302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5" name="Google Shape;425;p43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JOIN lets you merge multiple tables 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endParaRPr sz="2100">
              <a:solidFill>
                <a:srgbClr val="000000"/>
              </a:solidFill>
            </a:endParaRPr>
          </a:p>
        </p:txBody>
      </p:sp>
      <p:sp>
        <p:nvSpPr>
          <p:cNvPr id="426" name="Google Shape;426;p43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SELECT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DISTINCT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AGGREGATIONS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FROM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dirty="0">
                <a:solidFill>
                  <a:srgbClr val="000000"/>
                </a:solidFill>
              </a:rPr>
              <a:t>JOIN</a:t>
            </a:r>
            <a:endParaRPr sz="2100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WHERE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GROUP BY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HAVING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ORDER BY</a:t>
            </a:r>
            <a:endParaRPr sz="21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427" name="Google Shape;427;p43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3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SELECT *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	LEFT JOIN artist_info ON 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top_track_features.artist_id = 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artist_info.artist_id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9" name="Google Shape;429;p43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JOIN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425700" y="2420550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" name="Google Shape;435;p44"/>
          <p:cNvGraphicFramePr/>
          <p:nvPr/>
        </p:nvGraphicFramePr>
        <p:xfrm>
          <a:off x="239875" y="7239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6" name="Google Shape;436;p44"/>
          <p:cNvSpPr/>
          <p:nvPr/>
        </p:nvSpPr>
        <p:spPr>
          <a:xfrm>
            <a:off x="238375" y="1242125"/>
            <a:ext cx="3609900" cy="15570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4"/>
          <p:cNvSpPr txBox="1"/>
          <p:nvPr/>
        </p:nvSpPr>
        <p:spPr>
          <a:xfrm>
            <a:off x="4893175" y="3423949"/>
            <a:ext cx="4010950" cy="115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SELECT *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LEFT JOIN artist_info ON 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top_track_features.artist_id = 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artist_info.artist_id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38" name="Google Shape;438;p44"/>
          <p:cNvGraphicFramePr/>
          <p:nvPr/>
        </p:nvGraphicFramePr>
        <p:xfrm>
          <a:off x="238375" y="3574875"/>
          <a:ext cx="3361300" cy="12970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10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12020900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i88010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chillwave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3987400</a:t>
                      </a:r>
                      <a:endParaRPr sz="1000" dirty="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9" name="Google Shape;439;p44"/>
          <p:cNvSpPr/>
          <p:nvPr/>
        </p:nvSpPr>
        <p:spPr>
          <a:xfrm>
            <a:off x="239875" y="4093675"/>
            <a:ext cx="3361200" cy="5187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0" name="Google Shape;440;p44"/>
          <p:cNvGraphicFramePr/>
          <p:nvPr/>
        </p:nvGraphicFramePr>
        <p:xfrm>
          <a:off x="3980875" y="723900"/>
          <a:ext cx="5124075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400">
                <a:tc gridSpan="7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...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...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...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...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...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...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...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1" name="Google Shape;441;p44"/>
          <p:cNvSpPr/>
          <p:nvPr/>
        </p:nvSpPr>
        <p:spPr>
          <a:xfrm>
            <a:off x="7580125" y="1257400"/>
            <a:ext cx="1524900" cy="15570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4"/>
          <p:cNvSpPr/>
          <p:nvPr/>
        </p:nvSpPr>
        <p:spPr>
          <a:xfrm>
            <a:off x="3980875" y="1257400"/>
            <a:ext cx="3609900" cy="15570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" name="Google Shape;447;p45"/>
          <p:cNvGraphicFramePr/>
          <p:nvPr/>
        </p:nvGraphicFramePr>
        <p:xfrm>
          <a:off x="239875" y="7239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8" name="Google Shape;448;p45"/>
          <p:cNvSpPr/>
          <p:nvPr/>
        </p:nvSpPr>
        <p:spPr>
          <a:xfrm>
            <a:off x="238375" y="1242125"/>
            <a:ext cx="3609900" cy="15570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5"/>
          <p:cNvSpPr txBox="1"/>
          <p:nvPr/>
        </p:nvSpPr>
        <p:spPr>
          <a:xfrm>
            <a:off x="4893174" y="3423949"/>
            <a:ext cx="3886759" cy="15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SELECT artist_info.artist_id, song_name, tempo, artist_name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LEFT JOIN artist_info ON 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top_track_features.artist_id = 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Source Code Pro"/>
                <a:ea typeface="Source Code Pro"/>
                <a:cs typeface="Source Code Pro"/>
                <a:sym typeface="Source Code Pro"/>
              </a:rPr>
              <a:t>	artist_info.artist_id</a:t>
            </a:r>
            <a:endParaRPr sz="12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50" name="Google Shape;450;p45"/>
          <p:cNvGraphicFramePr/>
          <p:nvPr/>
        </p:nvGraphicFramePr>
        <p:xfrm>
          <a:off x="238375" y="3574875"/>
          <a:ext cx="3361300" cy="12970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10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12020900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i88010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chillwave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3987400</a:t>
                      </a:r>
                      <a:endParaRPr sz="1000" dirty="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1" name="Google Shape;451;p45"/>
          <p:cNvSpPr/>
          <p:nvPr/>
        </p:nvSpPr>
        <p:spPr>
          <a:xfrm>
            <a:off x="239875" y="4093675"/>
            <a:ext cx="3361200" cy="5187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52" name="Google Shape;452;p45"/>
          <p:cNvGraphicFramePr/>
          <p:nvPr/>
        </p:nvGraphicFramePr>
        <p:xfrm>
          <a:off x="3980875" y="723900"/>
          <a:ext cx="3341975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RETURN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Frank Sinatra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3" name="Google Shape;453;p45"/>
          <p:cNvSpPr/>
          <p:nvPr/>
        </p:nvSpPr>
        <p:spPr>
          <a:xfrm>
            <a:off x="6230575" y="1242125"/>
            <a:ext cx="1092300" cy="15570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45"/>
          <p:cNvSpPr/>
          <p:nvPr/>
        </p:nvSpPr>
        <p:spPr>
          <a:xfrm>
            <a:off x="3980875" y="1242125"/>
            <a:ext cx="2249700" cy="15570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5" name="Google Shape;455;p45"/>
          <p:cNvCxnSpPr/>
          <p:nvPr/>
        </p:nvCxnSpPr>
        <p:spPr>
          <a:xfrm>
            <a:off x="239875" y="4734025"/>
            <a:ext cx="33612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1" name="Google Shape;461;p46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FROM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WHERE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GROUP BY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AGGREGATION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HAVING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SELECT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DISTINCT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ORDER BY</a:t>
            </a:r>
            <a:endParaRPr sz="21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462" name="Google Shape;462;p46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Logical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3" name="Google Shape;463;p46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SELECT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DISTINCT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AGGREGATIONS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FROM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WHERE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GROUP BY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HAVING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ORDER BY</a:t>
            </a:r>
            <a:endParaRPr sz="2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1911</Words>
  <Application>Microsoft Office PowerPoint</Application>
  <PresentationFormat>On-screen Show (16:9)</PresentationFormat>
  <Paragraphs>839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Source Code Pro</vt:lpstr>
      <vt:lpstr>Oswald</vt:lpstr>
      <vt:lpstr>Source Sans Pro</vt:lpstr>
      <vt:lpstr>Arial</vt:lpstr>
      <vt:lpstr>Modern Writer</vt:lpstr>
      <vt:lpstr>Intro to RDBMS and SQL</vt:lpstr>
      <vt:lpstr>Working with a RDBMS Connect to RDBMS</vt:lpstr>
      <vt:lpstr>Working with a RDBMS Create cursor</vt:lpstr>
      <vt:lpstr>Working with a RDBMS Fetch data using cursor</vt:lpstr>
      <vt:lpstr>Working with a RDBMS Fetch data using cursor</vt:lpstr>
      <vt:lpstr>Working with a RDBMS</vt:lpstr>
      <vt:lpstr>SQL Syntax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2021-09-27T17:04:23Z</dcterms:modified>
</cp:coreProperties>
</file>